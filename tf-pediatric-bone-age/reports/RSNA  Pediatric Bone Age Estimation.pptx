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6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 type="screen16x9"/>
  <p:notesSz cx="6858000" cy="9144000"/>
  <p:embeddedFontLs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Lato Light" panose="020F0502020204030204" pitchFamily="34" charset="0"/>
      <p:regular r:id="rId43"/>
      <p:italic r:id="rId44"/>
    </p:embeddedFont>
    <p:embeddedFont>
      <p:font typeface="Open Sans" panose="020F0502020204030204" pitchFamily="34" charset="0"/>
      <p:regular r:id="rId45"/>
      <p:bold r:id="rId46"/>
      <p:italic r:id="rId47"/>
      <p:boldItalic r:id="rId48"/>
    </p:embeddedFont>
    <p:embeddedFont>
      <p:font typeface="Sora" panose="020B0604020202020204" charset="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1DA39-FB67-47B4-8189-95C87FEC6BA0}" v="1" dt="2025-05-11T02:07:27.810"/>
  </p1510:revLst>
</p1510:revInfo>
</file>

<file path=ppt/tableStyles.xml><?xml version="1.0" encoding="utf-8"?>
<a:tblStyleLst xmlns:a="http://schemas.openxmlformats.org/drawingml/2006/main" def="{0054A5FE-EADC-4056-9D71-3AE8866B43B7}">
  <a:tblStyle styleId="{0054A5FE-EADC-4056-9D71-3AE8866B43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34670" autoAdjust="0"/>
  </p:normalViewPr>
  <p:slideViewPr>
    <p:cSldViewPr snapToGrid="0">
      <p:cViewPr varScale="1">
        <p:scale>
          <a:sx n="48" d="100"/>
          <a:sy n="48" d="100"/>
        </p:scale>
        <p:origin x="333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187d555a7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35187d555a7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" name="Google Shape;5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187d555a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g35187d555a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6" name="Google Shape;6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7" name="Google Shape;6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1" name="Google Shape;6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5187d555a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g35187d555a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5187d555a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g35187d555a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5187d555a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g35187d555a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5187d555a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g35187d555a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5187d555a7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5" name="Google Shape;755;g35187d555a7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5187d555a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0" name="Google Shape;770;g35187d555a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5187d555a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1" name="Google Shape;781;g35187d555a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5187d555a7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35187d555a7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5187d555a7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5" name="Google Shape;815;g35187d555a7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5187d555a7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35187d555a7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5187d555a7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g35187d555a7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518d0f683c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5" name="Google Shape;845;g3518d0f683c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5187d555a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4" name="Google Shape;854;g35187d555a7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5187d555a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5" name="Google Shape;865;g35187d555a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5187d555a7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g35187d555a7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5187d555a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g35187d555a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5187d555a7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g35187d555a7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5187d555a7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g35187d555a7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518d0f68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9" name="Google Shape;909;g3518d0f683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5187d555a7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6" name="Google Shape;916;g35187d555a7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  <p:grpSp>
          <p:nvGrpSpPr>
            <p:cNvPr id="19" name="Google Shape;19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20" name="Google Shape;20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</p:grpSp>
      <p:grpSp>
        <p:nvGrpSpPr>
          <p:cNvPr id="23" name="Google Shape;23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4" name="Google Shape;24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29" name="Google Shape;29;p3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grpSp>
        <p:nvGrpSpPr>
          <p:cNvPr id="30" name="Google Shape;30;p3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1" name="Google Shape;31;p3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 idx="5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 idx="6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title" idx="7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title" idx="8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4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50" name="Google Shape;50;p4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54" name="Google Shape;54;p4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55" name="Google Shape;55;p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56" name="Google Shape;56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62" name="Google Shape;62;p5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63" name="Google Shape;63;p5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64" name="Google Shape;64;p5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71" name="Google Shape;71;p6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2" name="Google Shape;72;p6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3" name="Google Shape;73;p6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4" name="Google Shape;74;p6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5" name="Google Shape;75;p6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6" name="Google Shape;76;p6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77" name="Google Shape;77;p6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78" name="Google Shape;78;p6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79" name="Google Shape;79;p6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87" name="Google Shape;87;p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14882235" y="888343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7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91" name="Google Shape;91;p7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92" name="Google Shape;92;p7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name="adj1" fmla="val 4071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93" name="Google Shape;93;p7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name="adj1" fmla="val 4548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94" name="Google Shape;94;p7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95" name="Google Shape;95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title" idx="2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3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 idx="4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ubTitle" idx="5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03" name="Google Shape;103;p8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104" name="Google Shape;104;p8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Google Shape;107;p8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108" name="Google Shape;108;p8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1" name="Google Shape;111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18" name="Google Shape;118;p9"/>
          <p:cNvGrpSpPr/>
          <p:nvPr/>
        </p:nvGrpSpPr>
        <p:grpSpPr>
          <a:xfrm>
            <a:off x="65750" y="123192"/>
            <a:ext cx="9078236" cy="5947021"/>
            <a:chOff x="65750" y="123192"/>
            <a:chExt cx="9078236" cy="5947021"/>
          </a:xfrm>
        </p:grpSpPr>
        <p:cxnSp>
          <p:nvCxnSpPr>
            <p:cNvPr id="119" name="Google Shape;119;p9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20" name="Google Shape;120;p9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21" name="Google Shape;121;p9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22" name="Google Shape;122;p9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grpSp>
          <p:nvGrpSpPr>
            <p:cNvPr id="123" name="Google Shape;123;p9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124" name="Google Shape;124;p9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9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" name="Google Shape;128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0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0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37" name="Google Shape;137;p10"/>
          <p:cNvGrpSpPr/>
          <p:nvPr/>
        </p:nvGrpSpPr>
        <p:grpSpPr>
          <a:xfrm>
            <a:off x="4047014" y="42573"/>
            <a:ext cx="4967892" cy="427564"/>
            <a:chOff x="4047014" y="42573"/>
            <a:chExt cx="4967892" cy="427564"/>
          </a:xfrm>
        </p:grpSpPr>
        <p:sp>
          <p:nvSpPr>
            <p:cNvPr id="138" name="Google Shape;138;p10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0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142" name="Google Shape;142;p10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43" name="Google Shape;143;p10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44" name="Google Shape;144;p10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45" name="Google Shape;145;p10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146" name="Google Shape;14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55" name="Google Shape;155;p11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57" name="Google Shape;157;p11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158" name="Google Shape;158;p11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59" name="Google Shape;159;p11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60" name="Google Shape;160;p11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61" name="Google Shape;161;p11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162" name="Google Shape;162;p11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163" name="Google Shape;163;p1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1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1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subTitle" idx="2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ubTitle" idx="3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subTitle" idx="4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5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6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77" name="Google Shape;177;p12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178" name="Google Shape;178;p12"/>
            <p:cNvSpPr/>
            <p:nvPr/>
          </p:nvSpPr>
          <p:spPr>
            <a:xfrm>
              <a:off x="8937302" y="74717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8577884" y="2792122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8577868" y="4353966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12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182" name="Google Shape;182;p12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9059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183" name="Google Shape;183;p12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9476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184" name="Google Shape;18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2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3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4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5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6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7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8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9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3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14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5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99" name="Google Shape;19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200" name="Google Shape;200;p13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name="adj1" fmla="val -366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01" name="Google Shape;20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202" name="Google Shape;202;p13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203" name="Google Shape;203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4"/>
          <p:cNvSpPr>
            <a:spLocks noGrp="1"/>
          </p:cNvSpPr>
          <p:nvPr>
            <p:ph type="pic" idx="2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11" name="Google Shape;211;p14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212" name="Google Shape;212;p14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216" name="Google Shape;216;p14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name="adj1" fmla="val 6414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17" name="Google Shape;217;p14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name="adj1" fmla="val 34437"/>
                <a:gd name="adj2" fmla="val 30563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>
            <a:spLocks noGrp="1"/>
          </p:cNvSpPr>
          <p:nvPr>
            <p:ph type="title" hasCustomPrompt="1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1" name="Google Shape;221;p15"/>
          <p:cNvSpPr txBox="1">
            <a:spLocks noGrp="1"/>
          </p:cNvSpPr>
          <p:nvPr>
            <p:ph type="subTitle" idx="1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22" name="Google Shape;222;p15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223" name="Google Shape;223;p15"/>
            <p:cNvCxnSpPr/>
            <p:nvPr/>
          </p:nvCxnSpPr>
          <p:spPr>
            <a:xfrm rot="-5400000" flipH="1">
              <a:off x="-380550" y="571163"/>
              <a:ext cx="2426100" cy="9030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24" name="Google Shape;224;p15"/>
            <p:cNvCxnSpPr/>
            <p:nvPr/>
          </p:nvCxnSpPr>
          <p:spPr>
            <a:xfrm rot="-5400000" flipH="1">
              <a:off x="-924000" y="1419413"/>
              <a:ext cx="3439500" cy="524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25" name="Google Shape;225;p15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26" name="Google Shape;226;p15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name="adj1" fmla="val 51191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27" name="Google Shape;227;p15"/>
            <p:cNvCxnSpPr/>
            <p:nvPr/>
          </p:nvCxnSpPr>
          <p:spPr>
            <a:xfrm rot="10800000" flipH="1">
              <a:off x="-135425" y="4399725"/>
              <a:ext cx="8882400" cy="252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228" name="Google Shape;228;p15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229" name="Google Shape;229;p15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35" name="Google Shape;235;p16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236" name="Google Shape;236;p1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37" name="Google Shape;237;p1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38" name="Google Shape;238;p16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39" name="Google Shape;239;p16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40" name="Google Shape;240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17"/>
          <p:cNvSpPr txBox="1">
            <a:spLocks noGrp="1"/>
          </p:cNvSpPr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>
            <a:spLocks noGrp="1"/>
          </p:cNvSpPr>
          <p:nvPr>
            <p:ph type="subTitle" idx="1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47" name="Google Shape;24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8" name="Google Shape;248;p18"/>
          <p:cNvGrpSpPr/>
          <p:nvPr/>
        </p:nvGrpSpPr>
        <p:grpSpPr>
          <a:xfrm>
            <a:off x="144288" y="147077"/>
            <a:ext cx="454047" cy="1101386"/>
            <a:chOff x="144288" y="147077"/>
            <a:chExt cx="454047" cy="1101386"/>
          </a:xfrm>
        </p:grpSpPr>
        <p:sp>
          <p:nvSpPr>
            <p:cNvPr id="249" name="Google Shape;249;p18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8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18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254" name="Google Shape;254;p18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55" name="Google Shape;255;p18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56" name="Google Shape;256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9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260" name="Google Shape;260;p19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9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19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263" name="Google Shape;263;p19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64" name="Google Shape;264;p19"/>
            <p:cNvCxnSpPr/>
            <p:nvPr/>
          </p:nvCxnSpPr>
          <p:spPr>
            <a:xfrm rot="-5400000" flipH="1">
              <a:off x="-2079325" y="1859333"/>
              <a:ext cx="4747800" cy="149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65" name="Google Shape;26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68" name="Google Shape;268;p20"/>
          <p:cNvGrpSpPr/>
          <p:nvPr/>
        </p:nvGrpSpPr>
        <p:grpSpPr>
          <a:xfrm>
            <a:off x="199188" y="123990"/>
            <a:ext cx="422946" cy="368845"/>
            <a:chOff x="8576588" y="4496316"/>
            <a:chExt cx="422946" cy="368845"/>
          </a:xfrm>
        </p:grpSpPr>
        <p:sp>
          <p:nvSpPr>
            <p:cNvPr id="269" name="Google Shape;269;p20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0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272" name="Google Shape;272;p20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name="adj1" fmla="val 98286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73" name="Google Shape;273;p20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7856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74" name="Google Shape;274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77" name="Google Shape;277;p21"/>
          <p:cNvGrpSpPr/>
          <p:nvPr/>
        </p:nvGrpSpPr>
        <p:grpSpPr>
          <a:xfrm>
            <a:off x="8430763" y="-10"/>
            <a:ext cx="422946" cy="368845"/>
            <a:chOff x="8576588" y="4496316"/>
            <a:chExt cx="422946" cy="368845"/>
          </a:xfrm>
        </p:grpSpPr>
        <p:sp>
          <p:nvSpPr>
            <p:cNvPr id="278" name="Google Shape;278;p21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 rot="10800000" flipH="1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281" name="Google Shape;281;p21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name="adj1" fmla="val 481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82" name="Google Shape;282;p21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7856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283" name="Google Shape;28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subTitle" idx="1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subTitle" idx="2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subTitle" idx="3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ubTitle" idx="4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90" name="Google Shape;290;p22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91" name="Google Shape;291;p22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92" name="Google Shape;292;p22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name="adj1" fmla="val 81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293" name="Google Shape;293;p22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  <p:cxnSp>
          <p:nvCxnSpPr>
            <p:cNvPr id="294" name="Google Shape;294;p22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name="adj1" fmla="val 4694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295" name="Google Shape;295;p22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name="adj1" fmla="val 81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296" name="Google Shape;296;p22"/>
          <p:cNvGrpSpPr/>
          <p:nvPr/>
        </p:nvGrpSpPr>
        <p:grpSpPr>
          <a:xfrm>
            <a:off x="8430782" y="-10172"/>
            <a:ext cx="568753" cy="4875332"/>
            <a:chOff x="8430782" y="-10172"/>
            <a:chExt cx="568753" cy="4875332"/>
          </a:xfrm>
        </p:grpSpPr>
        <p:grpSp>
          <p:nvGrpSpPr>
            <p:cNvPr id="297" name="Google Shape;297;p22"/>
            <p:cNvGrpSpPr/>
            <p:nvPr/>
          </p:nvGrpSpPr>
          <p:grpSpPr>
            <a:xfrm>
              <a:off x="8576588" y="4496316"/>
              <a:ext cx="422946" cy="368845"/>
              <a:chOff x="8576588" y="4496316"/>
              <a:chExt cx="422946" cy="368845"/>
            </a:xfrm>
          </p:grpSpPr>
          <p:sp>
            <p:nvSpPr>
              <p:cNvPr id="298" name="Google Shape;298;p22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22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0" name="Google Shape;300;p22"/>
            <p:cNvGrpSpPr/>
            <p:nvPr/>
          </p:nvGrpSpPr>
          <p:grpSpPr>
            <a:xfrm>
              <a:off x="8430782" y="-10172"/>
              <a:ext cx="290110" cy="925970"/>
              <a:chOff x="8430782" y="3939191"/>
              <a:chExt cx="290110" cy="925970"/>
            </a:xfrm>
          </p:grpSpPr>
          <p:sp>
            <p:nvSpPr>
              <p:cNvPr id="301" name="Google Shape;301;p22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2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3" name="Google Shape;30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subTitle" idx="1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7" name="Google Shape;307;p23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308" name="Google Shape;308;p23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09" name="Google Shape;309;p23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10" name="Google Shape;310;p23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311" name="Google Shape;311;p23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3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>
            <a:spLocks noGrp="1"/>
          </p:cNvSpPr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subTitle" idx="1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Freepik</a:t>
            </a:r>
            <a:r>
              <a:rPr lang="en" sz="1200" b="1" i="0" u="sng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18" name="Google Shape;318;p24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319" name="Google Shape;319;p24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2" name="Google Shape;322;p24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23" name="Google Shape;323;p24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24" name="Google Shape;324;p24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sp>
        <p:nvSpPr>
          <p:cNvPr id="325" name="Google Shape;325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subTitle" idx="1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9" name="Google Shape;329;p25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330" name="Google Shape;330;p25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31" name="Google Shape;331;p25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32" name="Google Shape;332;p25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33" name="Google Shape;333;p25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34" name="Google Shape;334;p25"/>
          <p:cNvGrpSpPr/>
          <p:nvPr/>
        </p:nvGrpSpPr>
        <p:grpSpPr>
          <a:xfrm>
            <a:off x="8618643" y="1192466"/>
            <a:ext cx="400449" cy="2933145"/>
            <a:chOff x="7553711" y="-2334286"/>
            <a:chExt cx="455625" cy="3337291"/>
          </a:xfrm>
        </p:grpSpPr>
        <p:sp>
          <p:nvSpPr>
            <p:cNvPr id="335" name="Google Shape;335;p25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26"/>
          <p:cNvSpPr txBox="1">
            <a:spLocks noGrp="1"/>
          </p:cNvSpPr>
          <p:nvPr>
            <p:ph type="subTitle" idx="1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2" name="Google Shape;342;p26"/>
          <p:cNvSpPr txBox="1">
            <a:spLocks noGrp="1"/>
          </p:cNvSpPr>
          <p:nvPr>
            <p:ph type="subTitle" idx="2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43" name="Google Shape;343;p26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344" name="Google Shape;344;p26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45" name="Google Shape;345;p26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46" name="Google Shape;346;p26"/>
            <p:cNvCxnSpPr/>
            <p:nvPr/>
          </p:nvCxnSpPr>
          <p:spPr>
            <a:xfrm rot="-5400000" flipH="1">
              <a:off x="6680600" y="138925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47" name="Google Shape;347;p26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48" name="Google Shape;348;p26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49" name="Google Shape;349;p26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50" name="Google Shape;350;p26"/>
            <p:cNvCxnSpPr/>
            <p:nvPr/>
          </p:nvCxnSpPr>
          <p:spPr>
            <a:xfrm rot="-5400000" flipH="1">
              <a:off x="-1623700" y="-1097800"/>
              <a:ext cx="3956400" cy="30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51" name="Google Shape;351;p26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name="adj1" fmla="val 3546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52" name="Google Shape;352;p26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353" name="Google Shape;353;p26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58" name="Google Shape;358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63" name="Google Shape;363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64" name="Google Shape;364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365" name="Google Shape;365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  <p:grpSp>
          <p:nvGrpSpPr>
            <p:cNvPr id="366" name="Google Shape;366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67" name="Google Shape;367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368" name="Google Shape;368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  <p:grpSp>
          <p:nvGrpSpPr>
            <p:cNvPr id="369" name="Google Shape;369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70" name="Google Shape;370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  <p:cxnSp>
            <p:nvCxnSpPr>
              <p:cNvPr id="371" name="Google Shape;371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oval" w="med" len="med"/>
              </a:ln>
            </p:spPr>
          </p:cxnSp>
        </p:grpSp>
      </p:grpSp>
      <p:grpSp>
        <p:nvGrpSpPr>
          <p:cNvPr id="372" name="Google Shape;372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73" name="Google Shape;373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78" name="Google Shape;378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79" name="Google Shape;379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cxnSp>
          <p:nvCxnSpPr>
            <p:cNvPr id="380" name="Google Shape;380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381" name="Google Shape;381;p29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382" name="Google Shape;382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hantanurajmane/dataset-analysis-rsna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kaggle.com/code/gagandwaz/bone-age-efficientnetb4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0"/>
          <p:cNvSpPr txBox="1">
            <a:spLocks noGrp="1"/>
          </p:cNvSpPr>
          <p:nvPr>
            <p:ph type="ctrTitle"/>
          </p:nvPr>
        </p:nvSpPr>
        <p:spPr>
          <a:xfrm>
            <a:off x="4157699" y="563270"/>
            <a:ext cx="4898519" cy="22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/>
              <a:t>RSNA </a:t>
            </a:r>
            <a:br>
              <a:rPr lang="en" sz="3600"/>
            </a:br>
            <a:r>
              <a:rPr lang="en" sz="3600"/>
              <a:t>Pediatric Bone Age Estimation</a:t>
            </a:r>
            <a:endParaRPr sz="3600"/>
          </a:p>
        </p:txBody>
      </p:sp>
      <p:sp>
        <p:nvSpPr>
          <p:cNvPr id="391" name="Google Shape;391;p30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/>
              <a:t>Jayaashri Chezhian </a:t>
            </a:r>
            <a:endParaRPr dirty="0"/>
          </a:p>
        </p:txBody>
      </p:sp>
      <p:cxnSp>
        <p:nvCxnSpPr>
          <p:cNvPr id="392" name="Google Shape;392;p30"/>
          <p:cNvCxnSpPr>
            <a:endCxn id="391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grpSp>
        <p:nvGrpSpPr>
          <p:cNvPr id="393" name="Google Shape;393;p30"/>
          <p:cNvGrpSpPr/>
          <p:nvPr/>
        </p:nvGrpSpPr>
        <p:grpSpPr>
          <a:xfrm>
            <a:off x="713228" y="756273"/>
            <a:ext cx="2795593" cy="3610858"/>
            <a:chOff x="713228" y="756273"/>
            <a:chExt cx="2795593" cy="3610858"/>
          </a:xfrm>
        </p:grpSpPr>
        <p:grpSp>
          <p:nvGrpSpPr>
            <p:cNvPr id="394" name="Google Shape;394;p30"/>
            <p:cNvGrpSpPr/>
            <p:nvPr/>
          </p:nvGrpSpPr>
          <p:grpSpPr>
            <a:xfrm>
              <a:off x="713228" y="756273"/>
              <a:ext cx="2795593" cy="3610858"/>
              <a:chOff x="293087" y="273641"/>
              <a:chExt cx="3511170" cy="4535115"/>
            </a:xfrm>
          </p:grpSpPr>
          <p:sp>
            <p:nvSpPr>
              <p:cNvPr id="395" name="Google Shape;395;p30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0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0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0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0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0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0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0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0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0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0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0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0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0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30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0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0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0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0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0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0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0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0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0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0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0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0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0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0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0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0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0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0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0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30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0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0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0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30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47" name="Google Shape;447;p30"/>
              <p:cNvGrpSpPr/>
              <p:nvPr/>
            </p:nvGrpSpPr>
            <p:grpSpPr>
              <a:xfrm>
                <a:off x="3050673" y="1341842"/>
                <a:ext cx="527534" cy="273511"/>
                <a:chOff x="7999109" y="908965"/>
                <a:chExt cx="502461" cy="260512"/>
              </a:xfrm>
            </p:grpSpPr>
            <p:sp>
              <p:nvSpPr>
                <p:cNvPr id="448" name="Google Shape;448;p30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30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30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30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2" name="Google Shape;452;p30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30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30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5" name="Google Shape;455;p30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56" name="Google Shape;456;p30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62" name="Google Shape;462;p31"/>
          <p:cNvSpPr txBox="1">
            <a:spLocks noGrp="1"/>
          </p:cNvSpPr>
          <p:nvPr>
            <p:ph type="title" idx="5"/>
          </p:nvPr>
        </p:nvSpPr>
        <p:spPr>
          <a:xfrm>
            <a:off x="1173048" y="133797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3" name="Google Shape;463;p31"/>
          <p:cNvSpPr txBox="1">
            <a:spLocks noGrp="1"/>
          </p:cNvSpPr>
          <p:nvPr>
            <p:ph type="title" idx="7"/>
          </p:nvPr>
        </p:nvSpPr>
        <p:spPr>
          <a:xfrm>
            <a:off x="1173048" y="19661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4" name="Google Shape;464;p31"/>
          <p:cNvSpPr txBox="1">
            <a:spLocks noGrp="1"/>
          </p:cNvSpPr>
          <p:nvPr>
            <p:ph type="title" idx="8"/>
          </p:nvPr>
        </p:nvSpPr>
        <p:spPr>
          <a:xfrm>
            <a:off x="1173048" y="322257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65" name="Google Shape;465;p31"/>
          <p:cNvSpPr txBox="1">
            <a:spLocks noGrp="1"/>
          </p:cNvSpPr>
          <p:nvPr>
            <p:ph type="title" idx="6"/>
          </p:nvPr>
        </p:nvSpPr>
        <p:spPr>
          <a:xfrm>
            <a:off x="1173048" y="25943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6" name="Google Shape;466;p31"/>
          <p:cNvSpPr txBox="1">
            <a:spLocks noGrp="1"/>
          </p:cNvSpPr>
          <p:nvPr>
            <p:ph type="subTitle" idx="9"/>
          </p:nvPr>
        </p:nvSpPr>
        <p:spPr>
          <a:xfrm>
            <a:off x="1944050" y="1421450"/>
            <a:ext cx="20289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67" name="Google Shape;467;p31"/>
          <p:cNvSpPr txBox="1">
            <a:spLocks noGrp="1"/>
          </p:cNvSpPr>
          <p:nvPr>
            <p:ph type="subTitle" idx="13"/>
          </p:nvPr>
        </p:nvSpPr>
        <p:spPr>
          <a:xfrm>
            <a:off x="1892751" y="2021825"/>
            <a:ext cx="20802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468" name="Google Shape;468;p31"/>
          <p:cNvSpPr txBox="1">
            <a:spLocks noGrp="1"/>
          </p:cNvSpPr>
          <p:nvPr>
            <p:ph type="subTitle" idx="14"/>
          </p:nvPr>
        </p:nvSpPr>
        <p:spPr>
          <a:xfrm>
            <a:off x="1892749" y="2622200"/>
            <a:ext cx="1574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69" name="Google Shape;469;p31"/>
          <p:cNvSpPr txBox="1">
            <a:spLocks noGrp="1"/>
          </p:cNvSpPr>
          <p:nvPr>
            <p:ph type="subTitle" idx="15"/>
          </p:nvPr>
        </p:nvSpPr>
        <p:spPr>
          <a:xfrm>
            <a:off x="1892751" y="3278225"/>
            <a:ext cx="14376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470" name="Google Shape;470;p31"/>
          <p:cNvSpPr txBox="1">
            <a:spLocks noGrp="1"/>
          </p:cNvSpPr>
          <p:nvPr>
            <p:ph type="title" idx="5"/>
          </p:nvPr>
        </p:nvSpPr>
        <p:spPr>
          <a:xfrm>
            <a:off x="4529748" y="128232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71" name="Google Shape;471;p31"/>
          <p:cNvSpPr txBox="1">
            <a:spLocks noGrp="1"/>
          </p:cNvSpPr>
          <p:nvPr>
            <p:ph type="title" idx="7"/>
          </p:nvPr>
        </p:nvSpPr>
        <p:spPr>
          <a:xfrm>
            <a:off x="4529748" y="191051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72" name="Google Shape;472;p31"/>
          <p:cNvSpPr txBox="1">
            <a:spLocks noGrp="1"/>
          </p:cNvSpPr>
          <p:nvPr>
            <p:ph type="title" idx="8"/>
          </p:nvPr>
        </p:nvSpPr>
        <p:spPr>
          <a:xfrm>
            <a:off x="4529748" y="327822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473" name="Google Shape;473;p31"/>
          <p:cNvSpPr txBox="1">
            <a:spLocks noGrp="1"/>
          </p:cNvSpPr>
          <p:nvPr>
            <p:ph type="title" idx="6"/>
          </p:nvPr>
        </p:nvSpPr>
        <p:spPr>
          <a:xfrm>
            <a:off x="4529748" y="253873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subTitle" idx="9"/>
          </p:nvPr>
        </p:nvSpPr>
        <p:spPr>
          <a:xfrm>
            <a:off x="5300750" y="1365800"/>
            <a:ext cx="2411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subTitle" idx="13"/>
          </p:nvPr>
        </p:nvSpPr>
        <p:spPr>
          <a:xfrm>
            <a:off x="5249450" y="1966175"/>
            <a:ext cx="35184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Baseline Model Training</a:t>
            </a:r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subTitle" idx="14"/>
          </p:nvPr>
        </p:nvSpPr>
        <p:spPr>
          <a:xfrm>
            <a:off x="5249450" y="2622200"/>
            <a:ext cx="37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/>
              <a:t>Baseline Model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/>
              <a:t>Results&amp;Analysis</a:t>
            </a:r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subTitle" idx="15"/>
          </p:nvPr>
        </p:nvSpPr>
        <p:spPr>
          <a:xfrm>
            <a:off x="5249448" y="3331025"/>
            <a:ext cx="33495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Multi-Input Extension</a:t>
            </a:r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84" name="Google Shape;484;p32"/>
          <p:cNvSpPr txBox="1">
            <a:spLocks noGrp="1"/>
          </p:cNvSpPr>
          <p:nvPr>
            <p:ph type="title" idx="5"/>
          </p:nvPr>
        </p:nvSpPr>
        <p:spPr>
          <a:xfrm>
            <a:off x="1173048" y="133797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485" name="Google Shape;485;p32"/>
          <p:cNvSpPr txBox="1">
            <a:spLocks noGrp="1"/>
          </p:cNvSpPr>
          <p:nvPr>
            <p:ph type="title" idx="7"/>
          </p:nvPr>
        </p:nvSpPr>
        <p:spPr>
          <a:xfrm>
            <a:off x="1173048" y="2342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486" name="Google Shape;486;p32"/>
          <p:cNvSpPr txBox="1">
            <a:spLocks noGrp="1"/>
          </p:cNvSpPr>
          <p:nvPr>
            <p:ph type="title" idx="8"/>
          </p:nvPr>
        </p:nvSpPr>
        <p:spPr>
          <a:xfrm>
            <a:off x="5365998" y="1337975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487" name="Google Shape;487;p32"/>
          <p:cNvSpPr txBox="1">
            <a:spLocks noGrp="1"/>
          </p:cNvSpPr>
          <p:nvPr>
            <p:ph type="title" idx="6"/>
          </p:nvPr>
        </p:nvSpPr>
        <p:spPr>
          <a:xfrm>
            <a:off x="1173048" y="33473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488" name="Google Shape;488;p32"/>
          <p:cNvSpPr txBox="1">
            <a:spLocks noGrp="1"/>
          </p:cNvSpPr>
          <p:nvPr>
            <p:ph type="subTitle" idx="9"/>
          </p:nvPr>
        </p:nvSpPr>
        <p:spPr>
          <a:xfrm>
            <a:off x="1941050" y="1546927"/>
            <a:ext cx="28875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Multi-Input Model Training</a:t>
            </a:r>
            <a:endParaRPr/>
          </a:p>
        </p:txBody>
      </p:sp>
      <p:sp>
        <p:nvSpPr>
          <p:cNvPr id="489" name="Google Shape;489;p32"/>
          <p:cNvSpPr txBox="1">
            <a:spLocks noGrp="1"/>
          </p:cNvSpPr>
          <p:nvPr>
            <p:ph type="subTitle" idx="13"/>
          </p:nvPr>
        </p:nvSpPr>
        <p:spPr>
          <a:xfrm>
            <a:off x="2040600" y="2184600"/>
            <a:ext cx="20802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 &amp; Evaluations</a:t>
            </a:r>
            <a:endParaRPr/>
          </a:p>
        </p:txBody>
      </p:sp>
      <p:sp>
        <p:nvSpPr>
          <p:cNvPr id="490" name="Google Shape;490;p32"/>
          <p:cNvSpPr txBox="1">
            <a:spLocks noGrp="1"/>
          </p:cNvSpPr>
          <p:nvPr>
            <p:ph type="subTitle" idx="14"/>
          </p:nvPr>
        </p:nvSpPr>
        <p:spPr>
          <a:xfrm>
            <a:off x="2040600" y="3312425"/>
            <a:ext cx="23655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Grad-CAM</a:t>
            </a:r>
            <a:endParaRPr/>
          </a:p>
        </p:txBody>
      </p:sp>
      <p:sp>
        <p:nvSpPr>
          <p:cNvPr id="491" name="Google Shape;491;p32"/>
          <p:cNvSpPr txBox="1">
            <a:spLocks noGrp="1"/>
          </p:cNvSpPr>
          <p:nvPr>
            <p:ph type="subTitle" idx="15"/>
          </p:nvPr>
        </p:nvSpPr>
        <p:spPr>
          <a:xfrm>
            <a:off x="6261875" y="1241850"/>
            <a:ext cx="1890000" cy="8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Limitation &amp; Future Work </a:t>
            </a:r>
            <a:endParaRPr/>
          </a:p>
        </p:txBody>
      </p:sp>
      <p:sp>
        <p:nvSpPr>
          <p:cNvPr id="492" name="Google Shape;492;p32"/>
          <p:cNvSpPr txBox="1">
            <a:spLocks noGrp="1"/>
          </p:cNvSpPr>
          <p:nvPr>
            <p:ph type="title" idx="5"/>
          </p:nvPr>
        </p:nvSpPr>
        <p:spPr>
          <a:xfrm>
            <a:off x="5365998" y="23899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493" name="Google Shape;493;p32"/>
          <p:cNvSpPr txBox="1">
            <a:spLocks noGrp="1"/>
          </p:cNvSpPr>
          <p:nvPr>
            <p:ph type="subTitle" idx="9"/>
          </p:nvPr>
        </p:nvSpPr>
        <p:spPr>
          <a:xfrm>
            <a:off x="6261875" y="2389950"/>
            <a:ext cx="24111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94" name="Google Shape;49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3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500" name="Google Shape;500;p3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501" name="Google Shape;501;p33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02" name="Google Shape;502;p33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503" name="Google Shape;503;p33"/>
            <p:cNvSpPr/>
            <p:nvPr/>
          </p:nvSpPr>
          <p:spPr>
            <a:xfrm>
              <a:off x="8185993" y="219687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5504532" y="4432120"/>
              <a:ext cx="3102092" cy="126184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5" name="Google Shape;505;p3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506" name="Google Shape;506;p3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avLst/>
                <a:gdLst/>
                <a:ahLst/>
                <a:cxnLst/>
                <a:rect l="l" t="t" r="r" b="b"/>
                <a:pathLst>
                  <a:path w="18123" h="5428" extrusionOk="0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9368" extrusionOk="0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avLst/>
                <a:gdLst/>
                <a:ahLst/>
                <a:cxnLst/>
                <a:rect l="l" t="t" r="r" b="b"/>
                <a:pathLst>
                  <a:path w="39237" h="26433" extrusionOk="0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avLst/>
                <a:gdLst/>
                <a:ahLst/>
                <a:cxnLst/>
                <a:rect l="l" t="t" r="r" b="b"/>
                <a:pathLst>
                  <a:path w="36291" h="23193" extrusionOk="0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3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avLst/>
                <a:gdLst/>
                <a:ahLst/>
                <a:cxnLst/>
                <a:rect l="l" t="t" r="r" b="b"/>
                <a:pathLst>
                  <a:path w="36061" h="22962" extrusionOk="0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1" name="Google Shape;511;p3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512" name="Google Shape;512;p3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513" name="Google Shape;513;p3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55" h="14745" extrusionOk="0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Google Shape;514;p3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27" h="12402" extrusionOk="0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15" name="Google Shape;515;p3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avLst/>
                <a:gdLst/>
                <a:ahLst/>
                <a:cxnLst/>
                <a:rect l="l" t="t" r="r" b="b"/>
                <a:pathLst>
                  <a:path w="6303" h="5082" extrusionOk="0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6" name="Google Shape;516;p3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avLst/>
                <a:gdLst/>
                <a:ahLst/>
                <a:cxnLst/>
                <a:rect l="l" t="t" r="r" b="b"/>
                <a:pathLst>
                  <a:path w="15016" h="14704" extrusionOk="0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avLst/>
                <a:gdLst/>
                <a:ahLst/>
                <a:cxnLst/>
                <a:rect l="l" t="t" r="r" b="b"/>
                <a:pathLst>
                  <a:path w="12587" h="12368" extrusionOk="0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5060" extrusionOk="0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" name="Google Shape;520;p3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521" name="Google Shape;521;p3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avLst/>
                <a:gdLst/>
                <a:ahLst/>
                <a:cxnLst/>
                <a:rect l="l" t="t" r="r" b="b"/>
                <a:pathLst>
                  <a:path w="13812" h="13813" extrusionOk="0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3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avLst/>
                <a:gdLst/>
                <a:ahLst/>
                <a:cxnLst/>
                <a:rect l="l" t="t" r="r" b="b"/>
                <a:pathLst>
                  <a:path w="16662" h="16661" extrusionOk="0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avLst/>
                <a:gdLst/>
                <a:ahLst/>
                <a:cxnLst/>
                <a:rect l="l" t="t" r="r" b="b"/>
                <a:pathLst>
                  <a:path w="8777" h="9566" extrusionOk="0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4" name="Google Shape;524;p33"/>
            <p:cNvSpPr/>
            <p:nvPr/>
          </p:nvSpPr>
          <p:spPr>
            <a:xfrm>
              <a:off x="8399355" y="3558815"/>
              <a:ext cx="337021" cy="271928"/>
            </a:xfrm>
            <a:custGeom>
              <a:avLst/>
              <a:gdLst/>
              <a:ahLst/>
              <a:cxnLst/>
              <a:rect l="l" t="t" r="r" b="b"/>
              <a:pathLst>
                <a:path w="5307" h="4282" fill="none" extrusionOk="0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6054669" y="4040401"/>
              <a:ext cx="411957" cy="412274"/>
            </a:xfrm>
            <a:custGeom>
              <a:avLst/>
              <a:gdLst/>
              <a:ahLst/>
              <a:cxnLst/>
              <a:rect l="l" t="t" r="r" b="b"/>
              <a:pathLst>
                <a:path w="6487" h="6492" fill="none" extrusionOk="0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6379556" y="1780922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470"/>
              </a:srgbClr>
            </a:solidFill>
            <a:ln w="19050" cap="flat" cmpd="sng">
              <a:solidFill>
                <a:schemeClr val="lt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" name="Google Shape;527;p3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528" name="Google Shape;528;p3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avLst/>
                <a:gdLst/>
                <a:ahLst/>
                <a:cxnLst/>
                <a:rect l="l" t="t" r="r" b="b"/>
                <a:pathLst>
                  <a:path w="13767" h="13767" extrusionOk="0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avLst/>
                <a:gdLst/>
                <a:ahLst/>
                <a:cxnLst/>
                <a:rect l="l" t="t" r="r" b="b"/>
                <a:pathLst>
                  <a:path w="16615" h="16604" extrusionOk="0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470"/>
                </a:srgbClr>
              </a:solidFill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avLst/>
                <a:gdLst/>
                <a:ahLst/>
                <a:cxnLst/>
                <a:rect l="l" t="t" r="r" b="b"/>
                <a:pathLst>
                  <a:path w="6492" h="6487" fill="none" extrusionOk="0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8575" cap="flat" cmpd="sng">
                <a:solidFill>
                  <a:schemeClr val="accent4"/>
                </a:solidFill>
                <a:prstDash val="solid"/>
                <a:miter lim="575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3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532" name="Google Shape;532;p3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35" name="Google Shape;535;p33"/>
          <p:cNvCxnSpPr>
            <a:stCxn id="500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536" name="Google Shape;536;p33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537" name="Google Shape;537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43" name="Google Shape;543;p34"/>
          <p:cNvSpPr txBox="1">
            <a:spLocks noGrp="1"/>
          </p:cNvSpPr>
          <p:nvPr>
            <p:ph type="subTitle" idx="1"/>
          </p:nvPr>
        </p:nvSpPr>
        <p:spPr>
          <a:xfrm>
            <a:off x="4838474" y="1529450"/>
            <a:ext cx="3318600" cy="240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Problem with Manual Assessment:</a:t>
            </a:r>
            <a:endParaRPr b="1" dirty="0"/>
          </a:p>
          <a:p>
            <a:pPr marL="271463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</a:t>
            </a:r>
            <a:r>
              <a:rPr lang="en" dirty="0"/>
              <a:t> High inter-observer variability</a:t>
            </a:r>
            <a:endParaRPr dirty="0"/>
          </a:p>
          <a:p>
            <a:pPr marL="271463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</a:t>
            </a:r>
            <a:r>
              <a:rPr lang="en" dirty="0"/>
              <a:t> Time-consuming process (10-15 minutes per image)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 RSNA Challenge (2017):</a:t>
            </a:r>
            <a:endParaRPr b="1" dirty="0"/>
          </a:p>
          <a:p>
            <a:pPr marL="271463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Benchmark dataset for automated bone-age estimation using hand X-rays.</a:t>
            </a:r>
            <a:endParaRPr dirty="0"/>
          </a:p>
        </p:txBody>
      </p:sp>
      <p:sp>
        <p:nvSpPr>
          <p:cNvPr id="544" name="Google Shape;544;p34"/>
          <p:cNvSpPr txBox="1">
            <a:spLocks noGrp="1"/>
          </p:cNvSpPr>
          <p:nvPr>
            <p:ph type="subTitle" idx="2"/>
          </p:nvPr>
        </p:nvSpPr>
        <p:spPr>
          <a:xfrm>
            <a:off x="1114468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 What is Bone-Age?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Radiographic assessment of skeletal maturity in children.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 Clinical Importance: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Diagnosis and management of pediatric growth and endocrine disorders.</a:t>
            </a:r>
            <a:endParaRPr dirty="0"/>
          </a:p>
        </p:txBody>
      </p:sp>
      <p:sp>
        <p:nvSpPr>
          <p:cNvPr id="545" name="Google Shape;545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5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Background </a:t>
            </a:r>
            <a:endParaRPr/>
          </a:p>
        </p:txBody>
      </p:sp>
      <p:sp>
        <p:nvSpPr>
          <p:cNvPr id="551" name="Google Shape;551;p35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552" name="Google Shape;552;p35"/>
          <p:cNvSpPr txBox="1">
            <a:spLocks noGrp="1"/>
          </p:cNvSpPr>
          <p:nvPr>
            <p:ph type="title" idx="2"/>
          </p:nvPr>
        </p:nvSpPr>
        <p:spPr>
          <a:xfrm>
            <a:off x="3255250" y="1188830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553" name="Google Shape;553;p35"/>
          <p:cNvCxnSpPr>
            <a:stCxn id="551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554" name="Google Shape;554;p35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555" name="Google Shape;555;p35"/>
          <p:cNvPicPr preferRelativeResize="0"/>
          <p:nvPr/>
        </p:nvPicPr>
        <p:blipFill rotWithShape="1">
          <a:blip r:embed="rId3">
            <a:alphaModFix/>
          </a:blip>
          <a:srcRect b="13434"/>
          <a:stretch/>
        </p:blipFill>
        <p:spPr>
          <a:xfrm>
            <a:off x="5183600" y="1188825"/>
            <a:ext cx="3808650" cy="329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562" name="Google Shape;562;p36"/>
          <p:cNvSpPr txBox="1">
            <a:spLocks noGrp="1"/>
          </p:cNvSpPr>
          <p:nvPr>
            <p:ph type="subTitle" idx="1"/>
          </p:nvPr>
        </p:nvSpPr>
        <p:spPr>
          <a:xfrm>
            <a:off x="4838474" y="1529450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Why Automate?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Faster assessments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Consistent, objective results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Scalable across healthcare settings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563" name="Google Shape;563;p36"/>
          <p:cNvSpPr txBox="1">
            <a:spLocks noGrp="1"/>
          </p:cNvSpPr>
          <p:nvPr>
            <p:ph type="subTitle" idx="2"/>
          </p:nvPr>
        </p:nvSpPr>
        <p:spPr>
          <a:xfrm>
            <a:off x="1114468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Clinical Use of Bone-Age: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Monitor pediatric growth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Detect hormonal disorders or developmental delays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	Plan interventions (e.g., growth hormone therapy)</a:t>
            </a:r>
            <a:endParaRPr b="1" dirty="0"/>
          </a:p>
        </p:txBody>
      </p:sp>
      <p:sp>
        <p:nvSpPr>
          <p:cNvPr id="564" name="Google Shape;56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7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Objective </a:t>
            </a:r>
            <a:endParaRPr/>
          </a:p>
        </p:txBody>
      </p:sp>
      <p:sp>
        <p:nvSpPr>
          <p:cNvPr id="570" name="Google Shape;570;p37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571" name="Google Shape;571;p37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572" name="Google Shape;572;p37"/>
          <p:cNvCxnSpPr>
            <a:stCxn id="570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573" name="Google Shape;573;p37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574" name="Google Shape;5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213" y="1014475"/>
            <a:ext cx="3363825" cy="33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8"/>
          <p:cNvSpPr txBox="1">
            <a:spLocks noGrp="1"/>
          </p:cNvSpPr>
          <p:nvPr>
            <p:ph type="title"/>
          </p:nvPr>
        </p:nvSpPr>
        <p:spPr>
          <a:xfrm>
            <a:off x="1841227" y="965456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600"/>
              <a:t>Primary Objective</a:t>
            </a:r>
            <a:endParaRPr sz="1600"/>
          </a:p>
        </p:txBody>
      </p:sp>
      <p:sp>
        <p:nvSpPr>
          <p:cNvPr id="581" name="Google Shape;581;p38"/>
          <p:cNvSpPr txBox="1">
            <a:spLocks noGrp="1"/>
          </p:cNvSpPr>
          <p:nvPr>
            <p:ph type="subTitle" idx="1"/>
          </p:nvPr>
        </p:nvSpPr>
        <p:spPr>
          <a:xfrm>
            <a:off x="909439" y="1229621"/>
            <a:ext cx="43713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Predict bone age in months from hand X-ray images</a:t>
            </a:r>
            <a:r>
              <a:rPr lang="en" sz="2000"/>
              <a:t>.</a:t>
            </a:r>
            <a:endParaRPr/>
          </a:p>
        </p:txBody>
      </p:sp>
      <p:grpSp>
        <p:nvGrpSpPr>
          <p:cNvPr id="582" name="Google Shape;582;p38"/>
          <p:cNvGrpSpPr/>
          <p:nvPr/>
        </p:nvGrpSpPr>
        <p:grpSpPr>
          <a:xfrm>
            <a:off x="5824825" y="1527650"/>
            <a:ext cx="2854174" cy="2794753"/>
            <a:chOff x="5824825" y="1527650"/>
            <a:chExt cx="2854174" cy="2794753"/>
          </a:xfrm>
        </p:grpSpPr>
        <p:sp>
          <p:nvSpPr>
            <p:cNvPr id="583" name="Google Shape;583;p38"/>
            <p:cNvSpPr/>
            <p:nvPr/>
          </p:nvSpPr>
          <p:spPr>
            <a:xfrm>
              <a:off x="6851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7477175" y="4122900"/>
              <a:ext cx="1157331" cy="199500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5974449" y="4087375"/>
              <a:ext cx="681552" cy="126175"/>
            </a:xfrm>
            <a:custGeom>
              <a:avLst/>
              <a:gdLst/>
              <a:ahLst/>
              <a:cxnLst/>
              <a:rect l="l" t="t" r="r" b="b"/>
              <a:pathLst>
                <a:path w="48848" h="1987" extrusionOk="0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6" name="Google Shape;586;p38"/>
            <p:cNvGrpSpPr/>
            <p:nvPr/>
          </p:nvGrpSpPr>
          <p:grpSpPr>
            <a:xfrm>
              <a:off x="5824825" y="1527650"/>
              <a:ext cx="2854174" cy="2794753"/>
              <a:chOff x="5824825" y="1527650"/>
              <a:chExt cx="2854174" cy="2794753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219" extrusionOk="0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avLst/>
                <a:gdLst/>
                <a:ahLst/>
                <a:cxnLst/>
                <a:rect l="l" t="t" r="r" b="b"/>
                <a:pathLst>
                  <a:path w="7615" h="9634" extrusionOk="0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19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avLst/>
                <a:gdLst/>
                <a:ahLst/>
                <a:cxnLst/>
                <a:rect l="l" t="t" r="r" b="b"/>
                <a:pathLst>
                  <a:path w="13893" h="13894" extrusionOk="0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avLst/>
                <a:gdLst/>
                <a:ahLst/>
                <a:cxnLst/>
                <a:rect l="l" t="t" r="r" b="b"/>
                <a:pathLst>
                  <a:path w="3241" h="3287" extrusionOk="0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38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avLst/>
                <a:gdLst/>
                <a:ahLst/>
                <a:cxnLst/>
                <a:rect l="l" t="t" r="r" b="b"/>
                <a:pathLst>
                  <a:path w="5940" h="7517" extrusionOk="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avLst/>
                <a:gdLst/>
                <a:ahLst/>
                <a:cxnLst/>
                <a:rect l="l" t="t" r="r" b="b"/>
                <a:pathLst>
                  <a:path w="10831" h="10826" extrusionOk="0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60" extrusionOk="0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38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64" extrusionOk="0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38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364" extrusionOk="0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363" extrusionOk="0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2705" h="363" extrusionOk="0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38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968" h="363" extrusionOk="0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38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652" h="364" extrusionOk="0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364" extrusionOk="0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avLst/>
                <a:gdLst/>
                <a:ahLst/>
                <a:cxnLst/>
                <a:rect l="l" t="t" r="r" b="b"/>
                <a:pathLst>
                  <a:path w="15062" h="33097" extrusionOk="0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38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4392" extrusionOk="0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avLst/>
                <a:gdLst/>
                <a:ahLst/>
                <a:cxnLst/>
                <a:rect l="l" t="t" r="r" b="b"/>
                <a:pathLst>
                  <a:path w="16201" h="34806" extrusionOk="0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avLst/>
                <a:gdLst/>
                <a:ahLst/>
                <a:cxnLst/>
                <a:rect l="l" t="t" r="r" b="b"/>
                <a:pathLst>
                  <a:path w="10710" h="26996" extrusionOk="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avLst/>
                <a:gdLst/>
                <a:ahLst/>
                <a:cxnLst/>
                <a:rect l="l" t="t" r="r" b="b"/>
                <a:pathLst>
                  <a:path w="10215" h="13427" extrusionOk="0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38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avLst/>
                <a:gdLst/>
                <a:ahLst/>
                <a:cxnLst/>
                <a:rect l="l" t="t" r="r" b="b"/>
                <a:pathLst>
                  <a:path w="5317" h="8597" extrusionOk="0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196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38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avLst/>
                <a:gdLst/>
                <a:ahLst/>
                <a:cxnLst/>
                <a:rect l="l" t="t" r="r" b="b"/>
                <a:pathLst>
                  <a:path w="20034" h="22617" extrusionOk="0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avLst/>
                <a:gdLst/>
                <a:ahLst/>
                <a:cxnLst/>
                <a:rect l="l" t="t" r="r" b="b"/>
                <a:pathLst>
                  <a:path w="9243" h="4449" extrusionOk="0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avLst/>
                <a:gdLst/>
                <a:ahLst/>
                <a:cxnLst/>
                <a:rect l="l" t="t" r="r" b="b"/>
                <a:pathLst>
                  <a:path w="9237" h="2298" extrusionOk="0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38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avLst/>
                <a:gdLst/>
                <a:ahLst/>
                <a:cxnLst/>
                <a:rect l="l" t="t" r="r" b="b"/>
                <a:pathLst>
                  <a:path w="16632" h="4979" extrusionOk="0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38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avLst/>
                <a:gdLst/>
                <a:ahLst/>
                <a:cxnLst/>
                <a:rect l="l" t="t" r="r" b="b"/>
                <a:pathLst>
                  <a:path w="17220" h="13784" extrusionOk="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avLst/>
                <a:gdLst/>
                <a:ahLst/>
                <a:cxnLst/>
                <a:rect l="l" t="t" r="r" b="b"/>
                <a:pathLst>
                  <a:path w="14187" h="9174" extrusionOk="0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avLst/>
                <a:gdLst/>
                <a:ahLst/>
                <a:cxnLst/>
                <a:rect l="l" t="t" r="r" b="b"/>
                <a:pathLst>
                  <a:path w="11914" h="4047" extrusionOk="0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38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91" extrusionOk="0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38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1232" extrusionOk="0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avLst/>
                <a:gdLst/>
                <a:ahLst/>
                <a:cxnLst/>
                <a:rect l="l" t="t" r="r" b="b"/>
                <a:pathLst>
                  <a:path w="2176" h="1232" extrusionOk="0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4693" h="6176" extrusionOk="0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41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38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avLst/>
                <a:gdLst/>
                <a:ahLst/>
                <a:cxnLst/>
                <a:rect l="l" t="t" r="r" b="b"/>
                <a:pathLst>
                  <a:path w="565" h="4622" extrusionOk="0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38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7086" extrusionOk="0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4915" extrusionOk="0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4915" extrusionOk="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4886" extrusionOk="0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912" extrusionOk="0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avLst/>
                <a:gdLst/>
                <a:ahLst/>
                <a:cxnLst/>
                <a:rect l="l" t="t" r="r" b="b"/>
                <a:pathLst>
                  <a:path w="3735" h="11304" extrusionOk="0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avLst/>
                <a:gdLst/>
                <a:ahLst/>
                <a:cxnLst/>
                <a:rect l="l" t="t" r="r" b="b"/>
                <a:pathLst>
                  <a:path w="5388" h="14371" extrusionOk="0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38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1330" extrusionOk="0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38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avLst/>
                <a:gdLst/>
                <a:ahLst/>
                <a:cxnLst/>
                <a:rect l="l" t="t" r="r" b="b"/>
                <a:pathLst>
                  <a:path w="4697" h="4012" extrusionOk="0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3627" extrusionOk="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56" extrusionOk="0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38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815" extrusionOk="0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38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avLst/>
                <a:gdLst/>
                <a:ahLst/>
                <a:cxnLst/>
                <a:rect l="l" t="t" r="r" b="b"/>
                <a:pathLst>
                  <a:path w="1354" h="1664" extrusionOk="0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383" extrusionOk="0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838" extrusionOk="0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38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10009" extrusionOk="0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38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9951" extrusionOk="0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avLst/>
                <a:gdLst/>
                <a:ahLst/>
                <a:cxnLst/>
                <a:rect l="l" t="t" r="r" b="b"/>
                <a:pathLst>
                  <a:path w="3396" h="9721" extrusionOk="0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314" extrusionOk="0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38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7235" extrusionOk="0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38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6372" extrusionOk="0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911" extrusionOk="0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1791" h="6176" extrusionOk="0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4576" extrusionOk="0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294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2890" extrusionOk="0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6176" extrusionOk="0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19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avLst/>
                <a:gdLst/>
                <a:ahLst/>
                <a:cxnLst/>
                <a:rect l="l" t="t" r="r" b="b"/>
                <a:pathLst>
                  <a:path w="14273" h="11287" extrusionOk="0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19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avLst/>
                <a:gdLst/>
                <a:ahLst/>
                <a:cxnLst/>
                <a:rect l="l" t="t" r="r" b="b"/>
                <a:pathLst>
                  <a:path w="20575" h="20569" extrusionOk="0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7" name="Google Shape;647;p38"/>
          <p:cNvSpPr txBox="1"/>
          <p:nvPr/>
        </p:nvSpPr>
        <p:spPr>
          <a:xfrm>
            <a:off x="909440" y="1729050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</a:pPr>
            <a:r>
              <a:rPr lang="en" sz="1600" b="1" i="0" u="none" strike="noStrike" cap="non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Key Metrics</a:t>
            </a:r>
            <a:endParaRPr/>
          </a:p>
        </p:txBody>
      </p:sp>
      <p:sp>
        <p:nvSpPr>
          <p:cNvPr id="648" name="Google Shape;648;p38"/>
          <p:cNvSpPr txBox="1"/>
          <p:nvPr/>
        </p:nvSpPr>
        <p:spPr>
          <a:xfrm>
            <a:off x="754474" y="2300948"/>
            <a:ext cx="4242900" cy="3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Predict bone age in months from hand X-ray images.</a:t>
            </a:r>
            <a:endParaRPr sz="2000" b="0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" name="Google Shape;649;p38"/>
          <p:cNvSpPr txBox="1"/>
          <p:nvPr/>
        </p:nvSpPr>
        <p:spPr>
          <a:xfrm>
            <a:off x="1845962" y="2577304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</a:pPr>
            <a:r>
              <a:rPr lang="en" sz="1600" b="1" i="0" u="none" strike="noStrike" cap="non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Secondary Objective</a:t>
            </a:r>
            <a:endParaRPr/>
          </a:p>
        </p:txBody>
      </p:sp>
      <p:sp>
        <p:nvSpPr>
          <p:cNvPr id="650" name="Google Shape;650;p38"/>
          <p:cNvSpPr txBox="1"/>
          <p:nvPr/>
        </p:nvSpPr>
        <p:spPr>
          <a:xfrm>
            <a:off x="855769" y="3331312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</a:pPr>
            <a:r>
              <a:rPr lang="en" sz="1600" b="1" i="0" u="none" strike="noStrike" cap="non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Analysis Goal</a:t>
            </a:r>
            <a:endParaRPr/>
          </a:p>
        </p:txBody>
      </p:sp>
      <p:sp>
        <p:nvSpPr>
          <p:cNvPr id="651" name="Google Shape;651;p38"/>
          <p:cNvSpPr txBox="1"/>
          <p:nvPr/>
        </p:nvSpPr>
        <p:spPr>
          <a:xfrm>
            <a:off x="827876" y="2976511"/>
            <a:ext cx="4371300" cy="38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Incorporate patient sex to improve accuracy.</a:t>
            </a:r>
            <a:endParaRPr sz="2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" name="Google Shape;652;p38"/>
          <p:cNvSpPr txBox="1"/>
          <p:nvPr/>
        </p:nvSpPr>
        <p:spPr>
          <a:xfrm>
            <a:off x="781187" y="3740083"/>
            <a:ext cx="4371300" cy="60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</a:pP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Error Distribution by age and sex.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Explainability via Grad-CAM.</a:t>
            </a:r>
            <a:endParaRPr/>
          </a:p>
        </p:txBody>
      </p:sp>
      <p:sp>
        <p:nvSpPr>
          <p:cNvPr id="653" name="Google Shape;65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9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Dataset </a:t>
            </a:r>
            <a:endParaRPr/>
          </a:p>
        </p:txBody>
      </p:sp>
      <p:sp>
        <p:nvSpPr>
          <p:cNvPr id="659" name="Google Shape;659;p39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660" name="Google Shape;660;p39"/>
          <p:cNvSpPr txBox="1">
            <a:spLocks noGrp="1"/>
          </p:cNvSpPr>
          <p:nvPr>
            <p:ph type="title" idx="2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661" name="Google Shape;661;p39"/>
          <p:cNvCxnSpPr>
            <a:stCxn id="659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62" name="Google Shape;662;p39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663" name="Google Shape;66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550" y="1014475"/>
            <a:ext cx="3526775" cy="3526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"/>
          <p:cNvSpPr txBox="1">
            <a:spLocks noGrp="1"/>
          </p:cNvSpPr>
          <p:nvPr>
            <p:ph type="title"/>
          </p:nvPr>
        </p:nvSpPr>
        <p:spPr>
          <a:xfrm>
            <a:off x="1252838" y="684900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RSNA Bone </a:t>
            </a:r>
            <a:endParaRPr/>
          </a:p>
        </p:txBody>
      </p:sp>
      <p:sp>
        <p:nvSpPr>
          <p:cNvPr id="670" name="Google Shape;670;p40"/>
          <p:cNvSpPr txBox="1">
            <a:spLocks noGrp="1"/>
          </p:cNvSpPr>
          <p:nvPr>
            <p:ph type="subTitle" idx="1"/>
          </p:nvPr>
        </p:nvSpPr>
        <p:spPr>
          <a:xfrm>
            <a:off x="744725" y="1103100"/>
            <a:ext cx="43713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 Dataset Overview (RSNA):</a:t>
            </a:r>
            <a:endParaRPr sz="1400" dirty="0"/>
          </a:p>
          <a:p>
            <a:pPr marL="457200" lvl="1" indent="0" algn="l"/>
            <a:r>
              <a:rPr lang="en-IN" sz="1400" dirty="0"/>
              <a:t>O</a:t>
            </a:r>
            <a:r>
              <a:rPr lang="en" sz="1400" dirty="0"/>
              <a:t> 12,611 labeled hand X-rays (training)</a:t>
            </a:r>
            <a:endParaRPr sz="1400" dirty="0"/>
          </a:p>
          <a:p>
            <a:pPr marL="457200" lvl="1" indent="0" algn="l"/>
            <a:r>
              <a:rPr lang="en-IN" sz="1400" dirty="0"/>
              <a:t>O</a:t>
            </a:r>
            <a:r>
              <a:rPr lang="en" sz="1400" dirty="0"/>
              <a:t> Labels: Bone-age (months), Patient sex</a:t>
            </a:r>
            <a:endParaRPr dirty="0"/>
          </a:p>
        </p:txBody>
      </p:sp>
      <p:pic>
        <p:nvPicPr>
          <p:cNvPr id="671" name="Google Shape;6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75" y="2171400"/>
            <a:ext cx="2445738" cy="283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0"/>
          <p:cNvPicPr preferRelativeResize="0"/>
          <p:nvPr/>
        </p:nvPicPr>
        <p:blipFill rotWithShape="1">
          <a:blip r:embed="rId4">
            <a:alphaModFix/>
          </a:blip>
          <a:srcRect l="1244" t="2257" r="1507"/>
          <a:stretch/>
        </p:blipFill>
        <p:spPr>
          <a:xfrm>
            <a:off x="4830450" y="82500"/>
            <a:ext cx="4114800" cy="13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0"/>
          <p:cNvPicPr preferRelativeResize="0"/>
          <p:nvPr/>
        </p:nvPicPr>
        <p:blipFill rotWithShape="1">
          <a:blip r:embed="rId5">
            <a:alphaModFix/>
          </a:blip>
          <a:srcRect l="2252" t="3655" r="7988" b="4263"/>
          <a:stretch/>
        </p:blipFill>
        <p:spPr>
          <a:xfrm>
            <a:off x="2804525" y="3752750"/>
            <a:ext cx="1815975" cy="128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4550" y="1625650"/>
            <a:ext cx="18713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27549" y="3028000"/>
            <a:ext cx="1698375" cy="1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677" name="Google Shape;677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5428" y="1928774"/>
            <a:ext cx="1524200" cy="28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5470" y="1928774"/>
            <a:ext cx="1257400" cy="17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1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20252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/>
              <a:t>Preprocessing </a:t>
            </a:r>
            <a:endParaRPr/>
          </a:p>
        </p:txBody>
      </p:sp>
      <p:sp>
        <p:nvSpPr>
          <p:cNvPr id="684" name="Google Shape;684;p41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685" name="Google Shape;685;p41"/>
          <p:cNvSpPr txBox="1">
            <a:spLocks noGrp="1"/>
          </p:cNvSpPr>
          <p:nvPr>
            <p:ph type="title" idx="2"/>
          </p:nvPr>
        </p:nvSpPr>
        <p:spPr>
          <a:xfrm>
            <a:off x="3241182" y="1160019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686" name="Google Shape;686;p41"/>
          <p:cNvCxnSpPr>
            <a:stCxn id="684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87" name="Google Shape;687;p41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688" name="Google Shape;6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450" y="1302800"/>
            <a:ext cx="3460525" cy="34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1"/>
          <p:cNvSpPr/>
          <p:nvPr/>
        </p:nvSpPr>
        <p:spPr>
          <a:xfrm>
            <a:off x="5638200" y="1915375"/>
            <a:ext cx="464700" cy="1443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7666025" y="2654675"/>
            <a:ext cx="549300" cy="144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1" name="Google Shape;691;p41"/>
          <p:cNvSpPr/>
          <p:nvPr/>
        </p:nvSpPr>
        <p:spPr>
          <a:xfrm>
            <a:off x="7183175" y="4032850"/>
            <a:ext cx="315000" cy="1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2" name="Google Shape;692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2"/>
          <p:cNvSpPr txBox="1">
            <a:spLocks noGrp="1"/>
          </p:cNvSpPr>
          <p:nvPr>
            <p:ph type="title"/>
          </p:nvPr>
        </p:nvSpPr>
        <p:spPr>
          <a:xfrm>
            <a:off x="1252838" y="684900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Preprocessing Steps </a:t>
            </a:r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1"/>
          </p:nvPr>
        </p:nvSpPr>
        <p:spPr>
          <a:xfrm>
            <a:off x="839200" y="1179350"/>
            <a:ext cx="4371300" cy="15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Resize images to 224×224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Normalize using ImageNet standards (EfficientNet preprocess)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Augmentation (rotation, shifts, brightness; no horizontal flips)</a:t>
            </a:r>
            <a:endParaRPr sz="1400" dirty="0"/>
          </a:p>
        </p:txBody>
      </p:sp>
      <p:pic>
        <p:nvPicPr>
          <p:cNvPr id="699" name="Google Shape;6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662" y="262425"/>
            <a:ext cx="3233100" cy="1843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500" y="2129521"/>
            <a:ext cx="3233100" cy="1816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450" y="2942672"/>
            <a:ext cx="4868775" cy="169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3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/>
              <a:t>Baseline Model Training</a:t>
            </a:r>
            <a:endParaRPr/>
          </a:p>
        </p:txBody>
      </p:sp>
      <p:sp>
        <p:nvSpPr>
          <p:cNvPr id="708" name="Google Shape;708;p4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709" name="Google Shape;709;p43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cxnSp>
        <p:nvCxnSpPr>
          <p:cNvPr id="710" name="Google Shape;710;p43"/>
          <p:cNvCxnSpPr>
            <a:stCxn id="708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11" name="Google Shape;711;p43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12" name="Google Shape;71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375" y="1000200"/>
            <a:ext cx="3210300" cy="2946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713" name="Google Shape;713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"/>
          <p:cNvSpPr txBox="1">
            <a:spLocks noGrp="1"/>
          </p:cNvSpPr>
          <p:nvPr>
            <p:ph type="title"/>
          </p:nvPr>
        </p:nvSpPr>
        <p:spPr>
          <a:xfrm>
            <a:off x="1252838" y="684900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Basemodel</a:t>
            </a:r>
            <a:endParaRPr/>
          </a:p>
        </p:txBody>
      </p:sp>
      <p:sp>
        <p:nvSpPr>
          <p:cNvPr id="719" name="Google Shape;719;p44"/>
          <p:cNvSpPr txBox="1">
            <a:spLocks noGrp="1"/>
          </p:cNvSpPr>
          <p:nvPr>
            <p:ph type="subTitle" idx="1"/>
          </p:nvPr>
        </p:nvSpPr>
        <p:spPr>
          <a:xfrm>
            <a:off x="797200" y="1168825"/>
            <a:ext cx="7150800" cy="1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  Model Architecture: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 EfficientNet-B3 (pretrained)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 EfficientNet-B3 → GAP → Dense(256, ReLU) → Dropout → Dense(1, Linear)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 </a:t>
            </a:r>
            <a:r>
              <a:rPr lang="en" sz="1400" b="1" dirty="0"/>
              <a:t>Loss:</a:t>
            </a:r>
            <a:r>
              <a:rPr lang="en" sz="1400" dirty="0"/>
              <a:t> 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Mean Absolute Error (MAE)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 Optimizer: Adam (lr = 1e-4)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720" name="Google Shape;720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721" name="Google Shape;7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424" y="2284675"/>
            <a:ext cx="2361075" cy="5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268" y="106513"/>
            <a:ext cx="3347001" cy="15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000" y="2874349"/>
            <a:ext cx="3347000" cy="2164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2599" y="3121999"/>
            <a:ext cx="2893124" cy="17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5"/>
          <p:cNvSpPr txBox="1">
            <a:spLocks noGrp="1"/>
          </p:cNvSpPr>
          <p:nvPr>
            <p:ph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50</a:t>
            </a:r>
            <a:endParaRPr/>
          </a:p>
        </p:txBody>
      </p:sp>
      <p:sp>
        <p:nvSpPr>
          <p:cNvPr id="730" name="Google Shape;730;p45"/>
          <p:cNvSpPr txBox="1">
            <a:spLocks noGrp="1"/>
          </p:cNvSpPr>
          <p:nvPr>
            <p:ph type="title" idx="2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32</a:t>
            </a:r>
            <a:endParaRPr/>
          </a:p>
        </p:txBody>
      </p:sp>
      <p:sp>
        <p:nvSpPr>
          <p:cNvPr id="731" name="Google Shape;731;p45"/>
          <p:cNvSpPr txBox="1">
            <a:spLocks noGrp="1"/>
          </p:cNvSpPr>
          <p:nvPr>
            <p:ph type="subTitle" idx="3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Batch Size</a:t>
            </a:r>
            <a:endParaRPr/>
          </a:p>
        </p:txBody>
      </p:sp>
      <p:sp>
        <p:nvSpPr>
          <p:cNvPr id="732" name="Google Shape;732;p45"/>
          <p:cNvSpPr txBox="1">
            <a:spLocks noGrp="1"/>
          </p:cNvSpPr>
          <p:nvPr>
            <p:ph type="title" idx="4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400"/>
              <a:t>Early stopping &amp; Dropout</a:t>
            </a:r>
            <a:endParaRPr sz="2400"/>
          </a:p>
        </p:txBody>
      </p:sp>
      <p:sp>
        <p:nvSpPr>
          <p:cNvPr id="733" name="Google Shape;733;p45"/>
          <p:cNvSpPr txBox="1">
            <a:spLocks noGrp="1"/>
          </p:cNvSpPr>
          <p:nvPr>
            <p:ph type="subTitle" idx="5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Overfitting</a:t>
            </a:r>
            <a:endParaRPr/>
          </a:p>
        </p:txBody>
      </p:sp>
      <p:cxnSp>
        <p:nvCxnSpPr>
          <p:cNvPr id="734" name="Google Shape;734;p45"/>
          <p:cNvCxnSpPr>
            <a:endCxn id="729" idx="1"/>
          </p:cNvCxnSpPr>
          <p:nvPr/>
        </p:nvCxnSpPr>
        <p:spPr>
          <a:xfrm>
            <a:off x="381000" y="-190376"/>
            <a:ext cx="1842600" cy="1266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35" name="Google Shape;735;p45"/>
          <p:cNvCxnSpPr>
            <a:endCxn id="730" idx="1"/>
          </p:cNvCxnSpPr>
          <p:nvPr/>
        </p:nvCxnSpPr>
        <p:spPr>
          <a:xfrm rot="-5400000" flipH="1">
            <a:off x="171900" y="322529"/>
            <a:ext cx="2413200" cy="16902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36" name="Google Shape;736;p45"/>
          <p:cNvCxnSpPr>
            <a:stCxn id="730" idx="3"/>
          </p:cNvCxnSpPr>
          <p:nvPr/>
        </p:nvCxnSpPr>
        <p:spPr>
          <a:xfrm>
            <a:off x="6920400" y="2374229"/>
            <a:ext cx="1493700" cy="25755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37" name="Google Shape;737;p45"/>
          <p:cNvCxnSpPr>
            <a:stCxn id="729" idx="3"/>
          </p:cNvCxnSpPr>
          <p:nvPr/>
        </p:nvCxnSpPr>
        <p:spPr>
          <a:xfrm>
            <a:off x="6920400" y="1076524"/>
            <a:ext cx="1646100" cy="40266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38" name="Google Shape;738;p45"/>
          <p:cNvCxnSpPr>
            <a:stCxn id="732" idx="3"/>
          </p:cNvCxnSpPr>
          <p:nvPr/>
        </p:nvCxnSpPr>
        <p:spPr>
          <a:xfrm>
            <a:off x="6920400" y="3672833"/>
            <a:ext cx="1344600" cy="1094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39" name="Google Shape;739;p45"/>
          <p:cNvCxnSpPr>
            <a:endCxn id="732" idx="1"/>
          </p:cNvCxnSpPr>
          <p:nvPr/>
        </p:nvCxnSpPr>
        <p:spPr>
          <a:xfrm rot="-5400000" flipH="1">
            <a:off x="-497400" y="951833"/>
            <a:ext cx="4150200" cy="12918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740" name="Google Shape;740;p45"/>
          <p:cNvSpPr txBox="1">
            <a:spLocks noGrp="1"/>
          </p:cNvSpPr>
          <p:nvPr>
            <p:ph type="subTitle" idx="1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Epoch</a:t>
            </a:r>
            <a:endParaRPr/>
          </a:p>
        </p:txBody>
      </p:sp>
      <p:sp>
        <p:nvSpPr>
          <p:cNvPr id="741" name="Google Shape;741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6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447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 sz="3700"/>
              <a:t>Baseline Model </a:t>
            </a:r>
            <a:endParaRPr sz="37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700"/>
              <a:t>Results&amp;Analysis</a:t>
            </a:r>
            <a:endParaRPr sz="3700"/>
          </a:p>
        </p:txBody>
      </p:sp>
      <p:sp>
        <p:nvSpPr>
          <p:cNvPr id="747" name="Google Shape;747;p46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748" name="Google Shape;748;p46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07</a:t>
            </a:r>
            <a:endParaRPr/>
          </a:p>
        </p:txBody>
      </p:sp>
      <p:cxnSp>
        <p:nvCxnSpPr>
          <p:cNvPr id="749" name="Google Shape;749;p46"/>
          <p:cNvCxnSpPr>
            <a:stCxn id="74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50" name="Google Shape;750;p46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1" name="Google Shape;7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450" y="1044638"/>
            <a:ext cx="3359025" cy="3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 &amp; Analysis</a:t>
            </a:r>
            <a:endParaRPr/>
          </a:p>
        </p:txBody>
      </p:sp>
      <p:sp>
        <p:nvSpPr>
          <p:cNvPr id="758" name="Google Shape;758;p47"/>
          <p:cNvSpPr txBox="1">
            <a:spLocks noGrp="1"/>
          </p:cNvSpPr>
          <p:nvPr>
            <p:ph type="subTitle" idx="4"/>
          </p:nvPr>
        </p:nvSpPr>
        <p:spPr>
          <a:xfrm>
            <a:off x="5961775" y="3484280"/>
            <a:ext cx="22869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Some large prediction errors noted, potential gender-related bias.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subTitle" idx="5"/>
          </p:nvPr>
        </p:nvSpPr>
        <p:spPr>
          <a:xfrm>
            <a:off x="456576" y="1060763"/>
            <a:ext cx="24738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Final Validation MAE</a:t>
            </a:r>
            <a:r>
              <a:rPr lang="en" sz="1500" b="0">
                <a:latin typeface="Lato"/>
                <a:ea typeface="Lato"/>
                <a:cs typeface="Lato"/>
                <a:sym typeface="Lato"/>
              </a:rPr>
              <a:t>: </a:t>
            </a:r>
            <a:endParaRPr sz="1500"/>
          </a:p>
        </p:txBody>
      </p:sp>
      <p:sp>
        <p:nvSpPr>
          <p:cNvPr id="760" name="Google Shape;760;p47"/>
          <p:cNvSpPr txBox="1">
            <a:spLocks noGrp="1"/>
          </p:cNvSpPr>
          <p:nvPr>
            <p:ph type="subTitle" idx="6"/>
          </p:nvPr>
        </p:nvSpPr>
        <p:spPr>
          <a:xfrm>
            <a:off x="3139350" y="2937704"/>
            <a:ext cx="2865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Training &amp; 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Validation curve</a:t>
            </a:r>
            <a:endParaRPr sz="1500"/>
          </a:p>
        </p:txBody>
      </p:sp>
      <p:sp>
        <p:nvSpPr>
          <p:cNvPr id="761" name="Google Shape;761;p47"/>
          <p:cNvSpPr txBox="1">
            <a:spLocks noGrp="1"/>
          </p:cNvSpPr>
          <p:nvPr>
            <p:ph type="subTitle" idx="7"/>
          </p:nvPr>
        </p:nvSpPr>
        <p:spPr>
          <a:xfrm>
            <a:off x="456575" y="2532088"/>
            <a:ext cx="32721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Error Distribution Analysis:</a:t>
            </a:r>
            <a:endParaRPr sz="1500"/>
          </a:p>
        </p:txBody>
      </p:sp>
      <p:sp>
        <p:nvSpPr>
          <p:cNvPr id="762" name="Google Shape;762;p47"/>
          <p:cNvSpPr txBox="1">
            <a:spLocks noGrp="1"/>
          </p:cNvSpPr>
          <p:nvPr>
            <p:ph type="subTitle" idx="8"/>
          </p:nvPr>
        </p:nvSpPr>
        <p:spPr>
          <a:xfrm>
            <a:off x="5920675" y="3078663"/>
            <a:ext cx="2369100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Observation</a:t>
            </a:r>
            <a:endParaRPr sz="1500"/>
          </a:p>
        </p:txBody>
      </p:sp>
      <p:pic>
        <p:nvPicPr>
          <p:cNvPr id="764" name="Google Shape;7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76" y="1466588"/>
            <a:ext cx="3550025" cy="7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606E18-127B-B405-BD33-608E51A77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944" y="152062"/>
            <a:ext cx="2865301" cy="28729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F813CC-471D-3845-C695-0AB7B1FA5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350" y="3430604"/>
            <a:ext cx="2438208" cy="1602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0A893-1632-05A8-8C3E-9CCB87FAF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30" y="2937687"/>
            <a:ext cx="2472374" cy="18121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8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/>
              <a:t>Multi-Input Extension </a:t>
            </a:r>
            <a:endParaRPr/>
          </a:p>
        </p:txBody>
      </p:sp>
      <p:sp>
        <p:nvSpPr>
          <p:cNvPr id="773" name="Google Shape;773;p48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774" name="Google Shape;774;p48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08</a:t>
            </a:r>
            <a:endParaRPr/>
          </a:p>
        </p:txBody>
      </p:sp>
      <p:cxnSp>
        <p:nvCxnSpPr>
          <p:cNvPr id="775" name="Google Shape;775;p48"/>
          <p:cNvCxnSpPr>
            <a:stCxn id="773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76" name="Google Shape;776;p48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77" name="Google Shape;7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200" y="152400"/>
            <a:ext cx="3500700" cy="483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778" name="Google Shape;7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Multi-Input Extension (Image + Sex)</a:t>
            </a:r>
            <a:endParaRPr/>
          </a:p>
        </p:txBody>
      </p:sp>
      <p:sp>
        <p:nvSpPr>
          <p:cNvPr id="784" name="Google Shape;784;p49"/>
          <p:cNvSpPr txBox="1">
            <a:spLocks noGrp="1"/>
          </p:cNvSpPr>
          <p:nvPr>
            <p:ph type="subTitle" idx="2"/>
          </p:nvPr>
        </p:nvSpPr>
        <p:spPr>
          <a:xfrm>
            <a:off x="649750" y="1264925"/>
            <a:ext cx="33186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Rationale: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Skeletal maturity differs significantly between males and females.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785" name="Google Shape;785;p49"/>
          <p:cNvSpPr txBox="1"/>
          <p:nvPr/>
        </p:nvSpPr>
        <p:spPr>
          <a:xfrm>
            <a:off x="392325" y="2571750"/>
            <a:ext cx="12357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Image I/P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286725" y="3414675"/>
            <a:ext cx="14469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EfficienctNet B3 Model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>
            <a:off x="2103113" y="2571750"/>
            <a:ext cx="14469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Global Average Pooling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3726900" y="3134938"/>
            <a:ext cx="13731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Concatenate 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5571250" y="3401850"/>
            <a:ext cx="13095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Dense Layer 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0" name="Google Shape;790;p49"/>
          <p:cNvSpPr txBox="1"/>
          <p:nvPr/>
        </p:nvSpPr>
        <p:spPr>
          <a:xfrm>
            <a:off x="7188300" y="3401850"/>
            <a:ext cx="12357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Dropout Layer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91" name="Google Shape;791;p49"/>
          <p:cNvCxnSpPr>
            <a:stCxn id="785" idx="3"/>
            <a:endCxn id="786" idx="0"/>
          </p:cNvCxnSpPr>
          <p:nvPr/>
        </p:nvCxnSpPr>
        <p:spPr>
          <a:xfrm flipH="1">
            <a:off x="1010325" y="2800350"/>
            <a:ext cx="617700" cy="614400"/>
          </a:xfrm>
          <a:prstGeom prst="bentConnector4">
            <a:avLst>
              <a:gd name="adj1" fmla="val -38550"/>
              <a:gd name="adj2" fmla="val 68597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92" name="Google Shape;792;p49"/>
          <p:cNvCxnSpPr>
            <a:stCxn id="786" idx="3"/>
            <a:endCxn id="787" idx="2"/>
          </p:cNvCxnSpPr>
          <p:nvPr/>
        </p:nvCxnSpPr>
        <p:spPr>
          <a:xfrm rot="10800000" flipH="1">
            <a:off x="1733625" y="3028875"/>
            <a:ext cx="1092900" cy="6144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93" name="Google Shape;793;p49"/>
          <p:cNvCxnSpPr>
            <a:stCxn id="788" idx="3"/>
            <a:endCxn id="789" idx="1"/>
          </p:cNvCxnSpPr>
          <p:nvPr/>
        </p:nvCxnSpPr>
        <p:spPr>
          <a:xfrm>
            <a:off x="5100000" y="3363538"/>
            <a:ext cx="471300" cy="2670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94" name="Google Shape;794;p49"/>
          <p:cNvCxnSpPr>
            <a:stCxn id="789" idx="3"/>
            <a:endCxn id="790" idx="1"/>
          </p:cNvCxnSpPr>
          <p:nvPr/>
        </p:nvCxnSpPr>
        <p:spPr>
          <a:xfrm>
            <a:off x="6880750" y="3630450"/>
            <a:ext cx="307500" cy="6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795" name="Google Shape;795;p49"/>
          <p:cNvSpPr txBox="1"/>
          <p:nvPr/>
        </p:nvSpPr>
        <p:spPr>
          <a:xfrm>
            <a:off x="4268650" y="1264925"/>
            <a:ext cx="29679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Proposed Solution:</a:t>
            </a:r>
            <a:endParaRPr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Add sex as a secondary numerical input to CNN features.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6" name="Google Shape;796;p49"/>
          <p:cNvCxnSpPr>
            <a:stCxn id="787" idx="3"/>
            <a:endCxn id="788" idx="1"/>
          </p:cNvCxnSpPr>
          <p:nvPr/>
        </p:nvCxnSpPr>
        <p:spPr>
          <a:xfrm>
            <a:off x="3550013" y="2800350"/>
            <a:ext cx="177000" cy="563100"/>
          </a:xfrm>
          <a:prstGeom prst="bentConnector3">
            <a:avLst>
              <a:gd name="adj1" fmla="val 4996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797" name="Google Shape;797;p49"/>
          <p:cNvSpPr txBox="1"/>
          <p:nvPr/>
        </p:nvSpPr>
        <p:spPr>
          <a:xfrm>
            <a:off x="5539450" y="2573350"/>
            <a:ext cx="13731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Sex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98" name="Google Shape;798;p49"/>
          <p:cNvCxnSpPr>
            <a:stCxn id="797" idx="1"/>
            <a:endCxn id="788" idx="0"/>
          </p:cNvCxnSpPr>
          <p:nvPr/>
        </p:nvCxnSpPr>
        <p:spPr>
          <a:xfrm flipH="1">
            <a:off x="4413550" y="2801950"/>
            <a:ext cx="1125900" cy="333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799" name="Google Shape;799;p49"/>
          <p:cNvCxnSpPr>
            <a:stCxn id="790" idx="2"/>
            <a:endCxn id="800" idx="0"/>
          </p:cNvCxnSpPr>
          <p:nvPr/>
        </p:nvCxnSpPr>
        <p:spPr>
          <a:xfrm rot="-5400000" flipH="1">
            <a:off x="7562850" y="4102350"/>
            <a:ext cx="487200" cy="600"/>
          </a:xfrm>
          <a:prstGeom prst="bentConnector3">
            <a:avLst>
              <a:gd name="adj1" fmla="val 5001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800" name="Google Shape;800;p49"/>
          <p:cNvSpPr txBox="1"/>
          <p:nvPr/>
        </p:nvSpPr>
        <p:spPr>
          <a:xfrm>
            <a:off x="7188300" y="4346375"/>
            <a:ext cx="12357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Output</a:t>
            </a:r>
            <a:endParaRPr sz="1200" b="1" i="0" u="none" strike="noStrike" cap="non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1" name="Google Shape;801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0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/>
              <a:t>Multi-Input Model Training</a:t>
            </a:r>
            <a:endParaRPr/>
          </a:p>
        </p:txBody>
      </p:sp>
      <p:sp>
        <p:nvSpPr>
          <p:cNvPr id="807" name="Google Shape;807;p50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08" name="Google Shape;808;p50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09</a:t>
            </a:r>
            <a:endParaRPr/>
          </a:p>
        </p:txBody>
      </p:sp>
      <p:cxnSp>
        <p:nvCxnSpPr>
          <p:cNvPr id="809" name="Google Shape;809;p50"/>
          <p:cNvCxnSpPr>
            <a:stCxn id="80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810" name="Google Shape;810;p50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811" name="Google Shape;811;p50"/>
          <p:cNvPicPr preferRelativeResize="0"/>
          <p:nvPr/>
        </p:nvPicPr>
        <p:blipFill rotWithShape="1">
          <a:blip r:embed="rId3">
            <a:alphaModFix/>
          </a:blip>
          <a:srcRect t="8678" b="3664"/>
          <a:stretch/>
        </p:blipFill>
        <p:spPr>
          <a:xfrm>
            <a:off x="5182300" y="234400"/>
            <a:ext cx="3580200" cy="4083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sp>
        <p:nvSpPr>
          <p:cNvPr id="812" name="Google Shape;812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Multi-Input Model Training</a:t>
            </a:r>
            <a:endParaRPr/>
          </a:p>
        </p:txBody>
      </p:sp>
      <p:sp>
        <p:nvSpPr>
          <p:cNvPr id="818" name="Google Shape;818;p51"/>
          <p:cNvSpPr txBox="1">
            <a:spLocks noGrp="1"/>
          </p:cNvSpPr>
          <p:nvPr>
            <p:ph type="subTitle" idx="1"/>
          </p:nvPr>
        </p:nvSpPr>
        <p:spPr>
          <a:xfrm>
            <a:off x="4838474" y="1529450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Training Setup: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</a:t>
            </a:r>
            <a:r>
              <a:rPr lang="en" dirty="0"/>
              <a:t> Epochs: 40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</a:t>
            </a:r>
            <a:r>
              <a:rPr lang="en" dirty="0"/>
              <a:t> Callbacks: EarlyStopping &amp; ModelCheckpoint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819" name="Google Shape;819;p51"/>
          <p:cNvSpPr txBox="1">
            <a:spLocks noGrp="1"/>
          </p:cNvSpPr>
          <p:nvPr>
            <p:ph type="subTitle" idx="2"/>
          </p:nvPr>
        </p:nvSpPr>
        <p:spPr>
          <a:xfrm>
            <a:off x="1114475" y="1602925"/>
            <a:ext cx="33186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Data Pipeline (tf.data):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Efficient loading and batching for dual input (image, sex)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•  Loss &amp; Metrics:</a:t>
            </a:r>
            <a:endParaRPr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MAE loss on bone-age prediction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O</a:t>
            </a:r>
            <a:r>
              <a:rPr lang="en" b="1" dirty="0"/>
              <a:t> </a:t>
            </a:r>
            <a:r>
              <a:rPr lang="en" dirty="0"/>
              <a:t>Adam optimizer, similar hyperparameters as baseline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820" name="Google Shape;820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2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 sz="3400"/>
              <a:t> Results &amp; Evaluation Metrics</a:t>
            </a:r>
            <a:endParaRPr sz="3400"/>
          </a:p>
        </p:txBody>
      </p:sp>
      <p:sp>
        <p:nvSpPr>
          <p:cNvPr id="826" name="Google Shape;826;p52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27" name="Google Shape;827;p52"/>
          <p:cNvSpPr txBox="1">
            <a:spLocks noGrp="1"/>
          </p:cNvSpPr>
          <p:nvPr>
            <p:ph type="title" idx="2"/>
          </p:nvPr>
        </p:nvSpPr>
        <p:spPr>
          <a:xfrm>
            <a:off x="3353107" y="90899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10</a:t>
            </a:r>
            <a:endParaRPr/>
          </a:p>
        </p:txBody>
      </p:sp>
      <p:cxnSp>
        <p:nvCxnSpPr>
          <p:cNvPr id="828" name="Google Shape;828;p52"/>
          <p:cNvCxnSpPr>
            <a:stCxn id="826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829" name="Google Shape;829;p52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830" name="Google Shape;8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125" y="1234050"/>
            <a:ext cx="3324250" cy="33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3"/>
          <p:cNvSpPr txBox="1">
            <a:spLocks noGrp="1"/>
          </p:cNvSpPr>
          <p:nvPr>
            <p:ph type="title"/>
          </p:nvPr>
        </p:nvSpPr>
        <p:spPr>
          <a:xfrm>
            <a:off x="720000" y="3182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 &amp; Analysis</a:t>
            </a:r>
            <a:endParaRPr/>
          </a:p>
        </p:txBody>
      </p:sp>
      <p:sp>
        <p:nvSpPr>
          <p:cNvPr id="837" name="Google Shape;837;p53"/>
          <p:cNvSpPr txBox="1"/>
          <p:nvPr/>
        </p:nvSpPr>
        <p:spPr>
          <a:xfrm>
            <a:off x="855500" y="890975"/>
            <a:ext cx="40890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Validation MAE (Multi-Input):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Improved accuracy compared to baseline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Metrics Computed: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MAE, RMSE, R², Accuracy within ±6 and ±12 months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Error Breakdown: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MAE by sex (bar plot)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MAE by age groups (bar plot)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•  Insights: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Sex input significantly reduced errors, especially at critical age ranges.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8" name="Google Shape;838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839" name="Google Shape;83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1100" y="3385875"/>
            <a:ext cx="2009324" cy="14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74" y="3336400"/>
            <a:ext cx="1693800" cy="17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7570" y="3478950"/>
            <a:ext cx="4088729" cy="12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7375" y="0"/>
            <a:ext cx="2828951" cy="30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4"/>
          <p:cNvSpPr txBox="1">
            <a:spLocks noGrp="1"/>
          </p:cNvSpPr>
          <p:nvPr>
            <p:ph type="title"/>
          </p:nvPr>
        </p:nvSpPr>
        <p:spPr>
          <a:xfrm>
            <a:off x="720000" y="3182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Comparative Analysis</a:t>
            </a:r>
            <a:endParaRPr/>
          </a:p>
        </p:txBody>
      </p:sp>
      <p:sp>
        <p:nvSpPr>
          <p:cNvPr id="849" name="Google Shape;849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850" name="Google Shape;850;p54"/>
          <p:cNvSpPr txBox="1"/>
          <p:nvPr/>
        </p:nvSpPr>
        <p:spPr>
          <a:xfrm>
            <a:off x="5451825" y="1340550"/>
            <a:ext cx="167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5F1C74-E44A-78F2-7AA0-17ED5C3AA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69482"/>
              </p:ext>
            </p:extLst>
          </p:nvPr>
        </p:nvGraphicFramePr>
        <p:xfrm>
          <a:off x="720000" y="979945"/>
          <a:ext cx="6988455" cy="3769906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648358">
                  <a:extLst>
                    <a:ext uri="{9D8B030D-6E8A-4147-A177-3AD203B41FA5}">
                      <a16:colId xmlns:a16="http://schemas.microsoft.com/office/drawing/2014/main" val="2104732144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3889758290"/>
                    </a:ext>
                  </a:extLst>
                </a:gridCol>
                <a:gridCol w="2926081">
                  <a:extLst>
                    <a:ext uri="{9D8B030D-6E8A-4147-A177-3AD203B41FA5}">
                      <a16:colId xmlns:a16="http://schemas.microsoft.com/office/drawing/2014/main" val="851051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6"/>
                          </a:solidFill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6"/>
                          </a:solidFill>
                        </a:rPr>
                        <a:t>Baseline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6"/>
                          </a:solidFill>
                        </a:rPr>
                        <a:t>Multi-Input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259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Inputs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Hand X-ray image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Hand X-ray image + Patient sex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847188"/>
                  </a:ext>
                </a:extLst>
              </a:tr>
              <a:tr h="176517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EfficientNet-B3 → GAP → Dense →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EfficientNet-B3 → GAP + Sex → Dense →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27888"/>
                  </a:ext>
                </a:extLst>
              </a:tr>
              <a:tr h="310426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4.5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3.82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587712"/>
                  </a:ext>
                </a:extLst>
              </a:tr>
              <a:tr h="270662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R</a:t>
                      </a:r>
                      <a:r>
                        <a:rPr lang="en-IN" sz="1100" baseline="300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2</a:t>
                      </a: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 Square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0.900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0.926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499330"/>
                  </a:ext>
                </a:extLst>
              </a:tr>
              <a:tr h="27797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Within±6mo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71.9%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79.9%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03513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Within ±12mo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96.0%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98.0%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439731"/>
                  </a:ext>
                </a:extLst>
              </a:tr>
              <a:tr h="175158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Training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~2.5 hours(L4 GPU)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~40 mins (A100 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~40 mins(L4 GPU)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~30mins(A100 GPU)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52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Grad-CAM focused on hand 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Similar, but more consistent by sex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289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No adjustment for biological sex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Sex-specific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537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Real-World Applicability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Higher (sex-aware predictions)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4449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5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 sz="3100"/>
              <a:t>Model Explainability (Grad-CAM)</a:t>
            </a:r>
            <a:endParaRPr sz="3100"/>
          </a:p>
        </p:txBody>
      </p:sp>
      <p:sp>
        <p:nvSpPr>
          <p:cNvPr id="857" name="Google Shape;857;p55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58" name="Google Shape;858;p55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11</a:t>
            </a:r>
            <a:endParaRPr/>
          </a:p>
        </p:txBody>
      </p:sp>
      <p:cxnSp>
        <p:nvCxnSpPr>
          <p:cNvPr id="859" name="Google Shape;859;p55"/>
          <p:cNvCxnSpPr>
            <a:stCxn id="857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860" name="Google Shape;860;p55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861" name="Google Shape;86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975" y="789963"/>
            <a:ext cx="3833401" cy="3868386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6"/>
          <p:cNvSpPr txBox="1">
            <a:spLocks noGrp="1"/>
          </p:cNvSpPr>
          <p:nvPr>
            <p:ph type="title"/>
          </p:nvPr>
        </p:nvSpPr>
        <p:spPr>
          <a:xfrm>
            <a:off x="1252838" y="684900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Grad-CAM</a:t>
            </a:r>
            <a:endParaRPr/>
          </a:p>
        </p:txBody>
      </p:sp>
      <p:sp>
        <p:nvSpPr>
          <p:cNvPr id="868" name="Google Shape;868;p56"/>
          <p:cNvSpPr txBox="1">
            <a:spLocks noGrp="1"/>
          </p:cNvSpPr>
          <p:nvPr>
            <p:ph type="subTitle" idx="1"/>
          </p:nvPr>
        </p:nvSpPr>
        <p:spPr>
          <a:xfrm>
            <a:off x="923700" y="1144325"/>
            <a:ext cx="4371300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•</a:t>
            </a:r>
            <a:r>
              <a:rPr lang="en" sz="1400" b="1" dirty="0"/>
              <a:t>What is Grad-CAM?</a:t>
            </a:r>
            <a:endParaRPr sz="14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Visual explanation of CNN predictions highlighting important image regions.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•Observations from Grad-CAM:</a:t>
            </a:r>
            <a:endParaRPr sz="1400" b="1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Model consistently focuses on relevant anatomical landmarks (growth plates, joints)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 Good predictions correlate with correct anatomical focus</a:t>
            </a:r>
            <a:endParaRPr sz="1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/>
              <a:t>O</a:t>
            </a:r>
            <a:r>
              <a:rPr lang="en" sz="1400" dirty="0"/>
              <a:t>  Mis-predictions may highlight ambiguous or unclear regions</a:t>
            </a:r>
            <a:endParaRPr sz="1400" dirty="0"/>
          </a:p>
        </p:txBody>
      </p:sp>
      <p:pic>
        <p:nvPicPr>
          <p:cNvPr id="869" name="Google Shape;8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500" y="511500"/>
            <a:ext cx="249555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7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 sz="3700"/>
              <a:t>Limitations &amp; </a:t>
            </a:r>
            <a:endParaRPr sz="37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700"/>
              <a:t>Future Work</a:t>
            </a:r>
            <a:endParaRPr sz="3700"/>
          </a:p>
        </p:txBody>
      </p:sp>
      <p:sp>
        <p:nvSpPr>
          <p:cNvPr id="876" name="Google Shape;876;p57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77" name="Google Shape;877;p57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878" name="Google Shape;878;p57"/>
          <p:cNvCxnSpPr>
            <a:stCxn id="876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879" name="Google Shape;879;p57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880" name="Google Shape;8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325" y="948175"/>
            <a:ext cx="3356050" cy="335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887" name="Google Shape;887;p58"/>
          <p:cNvSpPr txBox="1">
            <a:spLocks noGrp="1"/>
          </p:cNvSpPr>
          <p:nvPr>
            <p:ph type="subTitle" idx="2"/>
          </p:nvPr>
        </p:nvSpPr>
        <p:spPr>
          <a:xfrm>
            <a:off x="1093350" y="1186725"/>
            <a:ext cx="7211400" cy="22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Limitations:</a:t>
            </a:r>
            <a:endParaRPr dirty="0"/>
          </a:p>
          <a:p>
            <a:pPr marL="457200" lvl="1" indent="0" algn="l"/>
            <a:r>
              <a:rPr lang="en" dirty="0"/>
              <a:t>•Dataset bias towards certain age groups</a:t>
            </a:r>
            <a:endParaRPr dirty="0"/>
          </a:p>
          <a:p>
            <a:pPr marL="457200" lvl="1" indent="0" algn="l"/>
            <a:r>
              <a:rPr lang="en" dirty="0"/>
              <a:t>•No direct incorporation of anatomical segmentation</a:t>
            </a:r>
            <a:endParaRPr dirty="0"/>
          </a:p>
          <a:p>
            <a:pPr marL="457200" lvl="1" indent="0" algn="l"/>
            <a:r>
              <a:rPr lang="en" dirty="0"/>
              <a:t>•Limited dataset size (~14k samples)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Directions:</a:t>
            </a:r>
            <a:endParaRPr dirty="0"/>
          </a:p>
          <a:p>
            <a:pPr marL="457200" lvl="1" indent="0" algn="l"/>
            <a:r>
              <a:rPr lang="en" dirty="0"/>
              <a:t>•Segmentation model to isolate anatomical structures</a:t>
            </a:r>
            <a:endParaRPr dirty="0"/>
          </a:p>
          <a:p>
            <a:pPr marL="457200" lvl="1" indent="0" algn="l"/>
            <a:r>
              <a:rPr lang="en" dirty="0"/>
              <a:t>•Transformer-based architectures (ViT)</a:t>
            </a:r>
            <a:endParaRPr dirty="0"/>
          </a:p>
          <a:p>
            <a:pPr marL="457200" lvl="1" indent="0" algn="l"/>
            <a:r>
              <a:rPr lang="en" dirty="0"/>
              <a:t>•Radiomics-based feature extraction with interpretable models (XGBoost)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88" name="Google Shape;888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9"/>
          <p:cNvSpPr txBox="1">
            <a:spLocks noGrp="1"/>
          </p:cNvSpPr>
          <p:nvPr>
            <p:ph type="title"/>
          </p:nvPr>
        </p:nvSpPr>
        <p:spPr>
          <a:xfrm>
            <a:off x="558200" y="2303250"/>
            <a:ext cx="4364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br>
              <a:rPr lang="en"/>
            </a:br>
            <a:r>
              <a:rPr lang="en" sz="3700"/>
              <a:t>Conclusion</a:t>
            </a:r>
            <a:endParaRPr sz="3700"/>
          </a:p>
        </p:txBody>
      </p:sp>
      <p:sp>
        <p:nvSpPr>
          <p:cNvPr id="894" name="Google Shape;894;p59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45818E"/>
                </a:solidFill>
              </a:rPr>
              <a:t>a</a:t>
            </a:r>
            <a:endParaRPr>
              <a:solidFill>
                <a:srgbClr val="45818E"/>
              </a:solidFill>
            </a:endParaRPr>
          </a:p>
        </p:txBody>
      </p:sp>
      <p:sp>
        <p:nvSpPr>
          <p:cNvPr id="895" name="Google Shape;895;p59"/>
          <p:cNvSpPr txBox="1">
            <a:spLocks noGrp="1"/>
          </p:cNvSpPr>
          <p:nvPr>
            <p:ph type="title" idx="2"/>
          </p:nvPr>
        </p:nvSpPr>
        <p:spPr>
          <a:xfrm>
            <a:off x="3353107" y="761144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896" name="Google Shape;896;p59"/>
          <p:cNvCxnSpPr>
            <a:stCxn id="894" idx="3"/>
          </p:cNvCxnSpPr>
          <p:nvPr/>
        </p:nvCxnSpPr>
        <p:spPr>
          <a:xfrm rot="10800000" flipH="1">
            <a:off x="4764900" y="1058050"/>
            <a:ext cx="240900" cy="2436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897" name="Google Shape;897;p59"/>
          <p:cNvCxnSpPr/>
          <p:nvPr/>
        </p:nvCxnSpPr>
        <p:spPr>
          <a:xfrm rot="10800000" flipH="1">
            <a:off x="-329025" y="4087775"/>
            <a:ext cx="3096900" cy="913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898" name="Google Shape;89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050" y="952037"/>
            <a:ext cx="3449400" cy="3239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sp>
        <p:nvSpPr>
          <p:cNvPr id="899" name="Google Shape;899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905" name="Google Shape;905;p60"/>
          <p:cNvSpPr txBox="1">
            <a:spLocks noGrp="1"/>
          </p:cNvSpPr>
          <p:nvPr>
            <p:ph type="subTitle" idx="2"/>
          </p:nvPr>
        </p:nvSpPr>
        <p:spPr>
          <a:xfrm>
            <a:off x="913800" y="1260675"/>
            <a:ext cx="69564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•Successfully developed and trained CNN-based models (baseline and multi-input)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•Multi-input approach integrating sex significantly reduced prediction error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•Explained model predictions clearly using Grad-CAM visualizations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06" name="Google Shape;906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912" name="Google Shape;912;p61"/>
          <p:cNvSpPr txBox="1">
            <a:spLocks noGrp="1"/>
          </p:cNvSpPr>
          <p:nvPr>
            <p:ph type="subTitle" idx="2"/>
          </p:nvPr>
        </p:nvSpPr>
        <p:spPr>
          <a:xfrm>
            <a:off x="913800" y="1260675"/>
            <a:ext cx="6956400" cy="1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https://www.kaggle.com/datasets/kmader/rsna-bone-age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https://www.kaggle.com/code/shantanurajmane/dataset-analysis-rsna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https://www.kaggle.com/code/gagandwaz/bone-age-efficientnetb4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https://www.tensorflow.org/tutorials/images/classification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3" name="Google Shape;913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2"/>
          <p:cNvSpPr txBox="1">
            <a:spLocks noGrp="1"/>
          </p:cNvSpPr>
          <p:nvPr>
            <p:ph type="ctrTitle"/>
          </p:nvPr>
        </p:nvSpPr>
        <p:spPr>
          <a:xfrm>
            <a:off x="4157699" y="563270"/>
            <a:ext cx="4898400" cy="22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600"/>
              <a:t>THANK YOU</a:t>
            </a:r>
            <a:endParaRPr sz="5600"/>
          </a:p>
        </p:txBody>
      </p:sp>
      <p:sp>
        <p:nvSpPr>
          <p:cNvPr id="919" name="Google Shape;919;p6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2"/>
                </a:solidFill>
              </a:rPr>
              <a:t>)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920" name="Google Shape;920;p62"/>
          <p:cNvCxnSpPr>
            <a:endCxn id="91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oval" w="med" len="med"/>
          </a:ln>
        </p:spPr>
      </p:cxnSp>
      <p:grpSp>
        <p:nvGrpSpPr>
          <p:cNvPr id="921" name="Google Shape;921;p62"/>
          <p:cNvGrpSpPr/>
          <p:nvPr/>
        </p:nvGrpSpPr>
        <p:grpSpPr>
          <a:xfrm>
            <a:off x="713228" y="756273"/>
            <a:ext cx="2795594" cy="3610859"/>
            <a:chOff x="713228" y="756273"/>
            <a:chExt cx="2795594" cy="3610859"/>
          </a:xfrm>
        </p:grpSpPr>
        <p:grpSp>
          <p:nvGrpSpPr>
            <p:cNvPr id="922" name="Google Shape;922;p62"/>
            <p:cNvGrpSpPr/>
            <p:nvPr/>
          </p:nvGrpSpPr>
          <p:grpSpPr>
            <a:xfrm>
              <a:off x="713228" y="756273"/>
              <a:ext cx="2795594" cy="3610859"/>
              <a:chOff x="293087" y="273641"/>
              <a:chExt cx="3511170" cy="4535115"/>
            </a:xfrm>
          </p:grpSpPr>
          <p:sp>
            <p:nvSpPr>
              <p:cNvPr id="923" name="Google Shape;923;p62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62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62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62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62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62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62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62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62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62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62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62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62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62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62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62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4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62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62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62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4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62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62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62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62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62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62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4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62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62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62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62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62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62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62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62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62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62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62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62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62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62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62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62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62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62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4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62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62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4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62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62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62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62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62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62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62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75" name="Google Shape;975;p62"/>
              <p:cNvGrpSpPr/>
              <p:nvPr/>
            </p:nvGrpSpPr>
            <p:grpSpPr>
              <a:xfrm>
                <a:off x="3050669" y="1341844"/>
                <a:ext cx="527533" cy="273512"/>
                <a:chOff x="7999109" y="908965"/>
                <a:chExt cx="502461" cy="260512"/>
              </a:xfrm>
            </p:grpSpPr>
            <p:sp>
              <p:nvSpPr>
                <p:cNvPr id="976" name="Google Shape;976;p62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7" name="Google Shape;977;p62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" name="Google Shape;978;p62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9" name="Google Shape;979;p62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0" name="Google Shape;980;p62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1" name="Google Shape;981;p62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2" name="Google Shape;982;p62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3" name="Google Shape;983;p62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84" name="Google Shape;984;p62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60c3846-e963-459a-964e-052ce09ded7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C5BF2D03D8C347A823C07644B766F4" ma:contentTypeVersion="6" ma:contentTypeDescription="Create a new document." ma:contentTypeScope="" ma:versionID="80fd5be819959568da64e35d6d5a4f09">
  <xsd:schema xmlns:xsd="http://www.w3.org/2001/XMLSchema" xmlns:xs="http://www.w3.org/2001/XMLSchema" xmlns:p="http://schemas.microsoft.com/office/2006/metadata/properties" xmlns:ns3="b60c3846-e963-459a-964e-052ce09ded75" targetNamespace="http://schemas.microsoft.com/office/2006/metadata/properties" ma:root="true" ma:fieldsID="c5a5fe713d3135e91f8ce1c8207e3544" ns3:_="">
    <xsd:import namespace="b60c3846-e963-459a-964e-052ce09ded7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0c3846-e963-459a-964e-052ce09ded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DCC7CD-D8B8-457A-AC55-0AE2EA9E7F75}">
  <ds:schemaRefs>
    <ds:schemaRef ds:uri="b60c3846-e963-459a-964e-052ce09de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602FE25-5139-46EA-BBC3-36F5354CEB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0c3846-e963-459a-964e-052ce09de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F447D2-8D65-4D79-9F9E-93BB5D373E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942</Words>
  <Application>Microsoft Office PowerPoint</Application>
  <PresentationFormat>On-screen Show (16:9)</PresentationFormat>
  <Paragraphs>266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Sora</vt:lpstr>
      <vt:lpstr>Lato Light</vt:lpstr>
      <vt:lpstr>Lato</vt:lpstr>
      <vt:lpstr>Open Sans</vt:lpstr>
      <vt:lpstr>AI Essentials Workshop by Slidesgo</vt:lpstr>
      <vt:lpstr>RSNA  Pediatric Bone Age Estimation</vt:lpstr>
      <vt:lpstr>Table of contents</vt:lpstr>
      <vt:lpstr>Table of contents</vt:lpstr>
      <vt:lpstr>Introduction </vt:lpstr>
      <vt:lpstr>Introduction</vt:lpstr>
      <vt:lpstr>Background </vt:lpstr>
      <vt:lpstr>Background</vt:lpstr>
      <vt:lpstr>Objective </vt:lpstr>
      <vt:lpstr>Primary Objective</vt:lpstr>
      <vt:lpstr>Dataset </vt:lpstr>
      <vt:lpstr>RSNA Bone </vt:lpstr>
      <vt:lpstr> Preprocessing </vt:lpstr>
      <vt:lpstr>Preprocessing Steps </vt:lpstr>
      <vt:lpstr> Baseline Model Training</vt:lpstr>
      <vt:lpstr>Basemodel</vt:lpstr>
      <vt:lpstr>50</vt:lpstr>
      <vt:lpstr> Baseline Model  Results&amp;Analysis</vt:lpstr>
      <vt:lpstr>Result &amp; Analysis</vt:lpstr>
      <vt:lpstr> Multi-Input Extension </vt:lpstr>
      <vt:lpstr>Multi-Input Extension (Image + Sex)</vt:lpstr>
      <vt:lpstr> Multi-Input Model Training</vt:lpstr>
      <vt:lpstr>Multi-Input Model Training</vt:lpstr>
      <vt:lpstr>  Results &amp; Evaluation Metrics</vt:lpstr>
      <vt:lpstr>Result &amp; Analysis</vt:lpstr>
      <vt:lpstr>Comparative Analysis</vt:lpstr>
      <vt:lpstr> Model Explainability (Grad-CAM)</vt:lpstr>
      <vt:lpstr>Grad-CAM</vt:lpstr>
      <vt:lpstr> Limitations &amp;  Future Work</vt:lpstr>
      <vt:lpstr>Limitations &amp; Future Work</vt:lpstr>
      <vt:lpstr> Conclusion</vt:lpstr>
      <vt:lpstr>Conclusion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Jayaashri Chezhian</dc:creator>
  <cp:lastModifiedBy>Jayaashri Chezhian</cp:lastModifiedBy>
  <cp:revision>4</cp:revision>
  <dcterms:modified xsi:type="dcterms:W3CDTF">2026-03-18T06:17:41Z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0x010100CCC5BF2D03D8C347A823C07644B766F4</vt:lpwstr>
  </property>
</Properties>
</file>