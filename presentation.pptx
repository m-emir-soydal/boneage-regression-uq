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scene: this project builds a model that not only predicts bone age but also tells you how much to trust the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clinical stakes. An incorrect bone age estimate without any uncertainty indicator is harder to catch and act on than one that signals low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age distribution is roughly Gaussian centered around 11 years. Males have a higher median (150 months) than females (120 months) — a direct consequence of sex-specific growth timing, which motivates the multi-input model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Dropout layer in the model head is the same one repurposed for MC Dropout inference later — no architectural change is needed. The key insight: sex concatenation lets the network learn sex-specific growth patterns alongside the visual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training evaluation numbers. The UQ evaluation in later slides uses the same test split and will show slightly different MAE/RMSE because the inference pipeline re-runs the model. The direction is consistent: Multi-Input is always better on point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methods are post-hoc — applied to the already-trained model without retraining.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architecture already has a Dropout layer in the head. The MC Dropout script calls model(inputs, training=True) to keep it stochastic, then batches the 50 passes efficiently using tensor tiling.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 q_hat is a single scalar from the calibration set, every test image gets the same interval width for a given model and alpha. This is the main limitation compared to adaptive conformal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of it as a precision-recall tradeoff. PICP is reliability; MPIW is usefulness. A good UQ method achieves target PICP with the smallest possible MPIW.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Overconfidence in MC Dropout typically occurs because dropout-based uncertainty reflects the model's internal variability, not its actual prediction errors on the data. It is a relative signal, not an absolutely calibrated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q_hat values are the conformal threshold computed from the validation residuals. MPIW = 2 × q_hat since the intervals are symmetric around the point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difference: MC Dropout width is driven by model-internal stochasticity; conformal width is driven by actual errors on held-out data. Only conformal + multi meets the coverage target with the smallest interval.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the narrative: the project shows both that adding metadata helps and that the choice of UQ method matters — conformal is better calibrated than MC Dropout for this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adaptive conformal methods (Mondrian conformal, RAPS) would give each image its own interval width based on difficulty, making the uncertainty more actionable for individual clinical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88000"/>
            <a:ext cx="12193200" cy="207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620000"/>
            <a:ext cx="10753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Pediatric Bone Age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520000"/>
            <a:ext cx="1075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93C5FD"/>
                </a:solidFill>
                <a:latin typeface="Calibri"/>
              </a:rPr>
              <a:t>with Uncertainty Quantification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040000"/>
            <a:ext cx="1075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Deep learning regression  ·  Post-hoc prediction intervals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580000"/>
            <a:ext cx="1075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AD8F8"/>
                </a:solidFill>
                <a:latin typeface="Calibri"/>
              </a:rPr>
              <a:t>RSNA Bone Age Dataset  ·  EfficientNet-B3  ·  MC Dropout  ·  Conformal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000"/>
            <a:ext cx="12193200" cy="79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Why Automate Bone Age Assessment?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116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CLINICAL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296000"/>
            <a:ext cx="113292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har char="•"/>
            </a:pPr>
            <a:r>
              <a:rPr sz="1700" b="0">
                <a:solidFill>
                  <a:srgbClr val="111827"/>
                </a:solidFill>
                <a:latin typeface="Calibri"/>
              </a:rPr>
              <a:t>Pediatric bone age is assessed from hand X-rays to diagnose growth disorders</a:t>
            </a:r>
          </a:p>
          <a:p>
            <a:pPr>
              <a:spcBef>
                <a:spcPts val="300"/>
              </a:spcBef>
              <a:buChar char="•"/>
            </a:pPr>
            <a:r>
              <a:rPr sz="1700" b="0">
                <a:solidFill>
                  <a:srgbClr val="111827"/>
                </a:solidFill>
                <a:latin typeface="Calibri"/>
              </a:rPr>
              <a:t>Traditional method: radiologist compares X-ray to a reference atlas (Greulich-Pyle)</a:t>
            </a:r>
          </a:p>
          <a:p>
            <a:pPr>
              <a:spcBef>
                <a:spcPts val="300"/>
              </a:spcBef>
              <a:buChar char="•"/>
            </a:pPr>
            <a:r>
              <a:rPr sz="1700" b="1">
                <a:solidFill>
                  <a:srgbClr val="1E3A5F"/>
                </a:solidFill>
                <a:latin typeface="Calibri"/>
              </a:rPr>
              <a:t>Limitations of the manual approach:</a:t>
            </a:r>
          </a:p>
          <a:p>
            <a:pPr lvl="1">
              <a:spcBef>
                <a:spcPts val="100"/>
              </a:spcBef>
              <a:buChar char="–"/>
            </a:pPr>
            <a:r>
              <a:rPr sz="1600" b="0">
                <a:solidFill>
                  <a:srgbClr val="111827"/>
                </a:solidFill>
                <a:latin typeface="Calibri"/>
              </a:rPr>
              <a:t>Subjective — significant inter-observer variability documented in literature</a:t>
            </a:r>
          </a:p>
          <a:p>
            <a:pPr lvl="1">
              <a:spcBef>
                <a:spcPts val="100"/>
              </a:spcBef>
              <a:buChar char="–"/>
            </a:pPr>
            <a:r>
              <a:rPr sz="1600" b="0">
                <a:solidFill>
                  <a:srgbClr val="111827"/>
                </a:solidFill>
                <a:latin typeface="Calibri"/>
              </a:rPr>
              <a:t>Time-consuming — 10–15 minutes per image</a:t>
            </a:r>
          </a:p>
          <a:p>
            <a:pPr lvl="1">
              <a:spcBef>
                <a:spcPts val="100"/>
              </a:spcBef>
              <a:buChar char="–"/>
            </a:pPr>
            <a:r>
              <a:rPr sz="1600" b="0">
                <a:solidFill>
                  <a:srgbClr val="111827"/>
                </a:solidFill>
                <a:latin typeface="Calibri"/>
              </a:rPr>
              <a:t>Inconsistent across institutions and experience levels</a:t>
            </a:r>
          </a:p>
          <a:p>
            <a:pPr>
              <a:spcBef>
                <a:spcPts val="300"/>
              </a:spcBef>
              <a:buChar char="•"/>
            </a:pPr>
            <a:r>
              <a:rPr sz="1700" b="1">
                <a:solidFill>
                  <a:srgbClr val="1E3A5F"/>
                </a:solidFill>
                <a:latin typeface="Calibri"/>
              </a:rPr>
              <a:t>Goal of this project:</a:t>
            </a:r>
          </a:p>
          <a:p>
            <a:pPr lvl="1">
              <a:spcBef>
                <a:spcPts val="100"/>
              </a:spcBef>
              <a:buChar char="–"/>
            </a:pPr>
            <a:r>
              <a:rPr sz="1600" b="0">
                <a:solidFill>
                  <a:srgbClr val="111827"/>
                </a:solidFill>
                <a:latin typeface="Calibri"/>
              </a:rPr>
              <a:t>Automate prediction with deep learning (EfficientNet-B3)</a:t>
            </a:r>
          </a:p>
          <a:p>
            <a:pPr lvl="1">
              <a:spcBef>
                <a:spcPts val="100"/>
              </a:spcBef>
              <a:buChar char="–"/>
            </a:pPr>
            <a:r>
              <a:rPr sz="1600" b="0">
                <a:solidFill>
                  <a:srgbClr val="111827"/>
                </a:solidFill>
                <a:latin typeface="Calibri"/>
              </a:rPr>
              <a:t>Add calibrated uncertainty intervals — clinicians need to know when not to trust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5940000"/>
            <a:ext cx="7930439" cy="25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6012000"/>
            <a:ext cx="1132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Both methods are post-hoc — applied to an already-trained model without retraining.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000"/>
            <a:ext cx="12193200" cy="79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RSNA Pediatric Bone Age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116000"/>
            <a:ext cx="55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Source: RSNA 2017 / Kaggle — publicly available</a:t>
            </a:r>
          </a:p>
          <a:p>
            <a:pPr>
              <a:spcBef>
                <a:spcPts val="300"/>
              </a:spcBef>
              <a:buChar char="•"/>
            </a:pPr>
            <a:r>
              <a:rPr sz="1500" b="1">
                <a:solidFill>
                  <a:srgbClr val="1E3A5F"/>
                </a:solidFill>
                <a:latin typeface="Calibri"/>
              </a:rPr>
              <a:t>12,611 hand X-ray images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Labels per image:</a:t>
            </a:r>
          </a:p>
          <a:p>
            <a:pPr lvl="1">
              <a:spcBef>
                <a:spcPts val="100"/>
              </a:spcBef>
              <a:buChar char="–"/>
            </a:pPr>
            <a:r>
              <a:rPr sz="1400" b="0">
                <a:solidFill>
                  <a:srgbClr val="111827"/>
                </a:solidFill>
                <a:latin typeface="Calibri"/>
              </a:rPr>
              <a:t>boneage — true bone age in months (continuous regression target)</a:t>
            </a:r>
          </a:p>
          <a:p>
            <a:pPr lvl="1">
              <a:spcBef>
                <a:spcPts val="100"/>
              </a:spcBef>
              <a:buChar char="–"/>
            </a:pPr>
            <a:r>
              <a:rPr sz="1400" b="0">
                <a:solidFill>
                  <a:srgbClr val="111827"/>
                </a:solidFill>
                <a:latin typeface="Calibri"/>
              </a:rPr>
              <a:t>male — binary sex indicator (True / False)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Sex split: 54.2% male / 45.8% female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Pre-processing:</a:t>
            </a:r>
          </a:p>
          <a:p>
            <a:pPr lvl="1">
              <a:spcBef>
                <a:spcPts val="100"/>
              </a:spcBef>
              <a:buChar char="–"/>
            </a:pPr>
            <a:r>
              <a:rPr sz="1400" b="0">
                <a:solidFill>
                  <a:srgbClr val="111827"/>
                </a:solidFill>
                <a:latin typeface="Calibri"/>
              </a:rPr>
              <a:t>Resize to 300×300, EfficientNet normalization</a:t>
            </a:r>
          </a:p>
          <a:p>
            <a:pPr lvl="1">
              <a:spcBef>
                <a:spcPts val="100"/>
              </a:spcBef>
              <a:buChar char="–"/>
            </a:pPr>
            <a:r>
              <a:rPr sz="1400" b="0">
                <a:solidFill>
                  <a:srgbClr val="111827"/>
                </a:solidFill>
                <a:latin typeface="Calibri"/>
              </a:rPr>
              <a:t>Augmentation: rotation ±20°, zoom ±10%, brightness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0000" y="1116000"/>
          <a:ext cx="5508000" cy="18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2808000"/>
              </a:tblGrid>
              <a:tr h="259200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Statistic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259200"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1 month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59200"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228 months (19 yr)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132 months (11 yr)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59200"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127.3 months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Std Dev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41.2 months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59200"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5th–95th pct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50 – 186 months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3600000"/>
            <a:ext cx="11833200" cy="52086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000"/>
            <a:ext cx="12193200" cy="79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EfficientNet-B3 Regression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116000"/>
            <a:ext cx="113292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har char="•"/>
            </a:pPr>
            <a:r>
              <a:rPr sz="1400" b="0">
                <a:solidFill>
                  <a:srgbClr val="111827"/>
                </a:solidFill>
                <a:latin typeface="Calibri"/>
              </a:rPr>
              <a:t>ImageNet-pretrained EfficientNet-B3 · Global Avg Pool → Dense(256)+ReLU → Dropout → Linear output</a:t>
            </a:r>
          </a:p>
          <a:p>
            <a:pPr>
              <a:spcBef>
                <a:spcPts val="300"/>
              </a:spcBef>
              <a:buChar char="•"/>
            </a:pPr>
            <a:r>
              <a:rPr sz="1400" b="0">
                <a:solidFill>
                  <a:srgbClr val="111827"/>
                </a:solidFill>
                <a:latin typeface="Calibri"/>
              </a:rPr>
              <a:t>Output normalized by max training age; rescaled to months at inference</a:t>
            </a:r>
          </a:p>
          <a:p>
            <a:pPr>
              <a:spcBef>
                <a:spcPts val="300"/>
              </a:spcBef>
              <a:buChar char="•"/>
            </a:pPr>
            <a:r>
              <a:rPr sz="1400" b="0">
                <a:solidFill>
                  <a:srgbClr val="111827"/>
                </a:solidFill>
                <a:latin typeface="Calibri"/>
              </a:rPr>
              <a:t>Split: 80% train · 10% val (also calibration) · 10% test  (seed=42, stratified)</a:t>
            </a:r>
          </a:p>
          <a:p>
            <a:pPr>
              <a:spcBef>
                <a:spcPts val="300"/>
              </a:spcBef>
              <a:buChar char="•"/>
            </a:pPr>
            <a:r>
              <a:rPr sz="1400" b="0">
                <a:solidFill>
                  <a:srgbClr val="111827"/>
                </a:solidFill>
                <a:latin typeface="Calibri"/>
              </a:rPr>
              <a:t>Training: loss=MAE, Adam, batch=32, early stopping + LR scheduling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2160000"/>
            <a:ext cx="11833200" cy="414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000"/>
            <a:ext cx="12193200" cy="79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Point Prediction Performance (Regression)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00000" y="1152000"/>
          <a:ext cx="10404000" cy="77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2268000"/>
                <a:gridCol w="2268000"/>
                <a:gridCol w="2268000"/>
              </a:tblGrid>
              <a:tr h="259200">
                <a:tc>
                  <a:txBody>
                    <a:bodyPr wrap="non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MAE (months)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RMSE (months)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259200">
                <a:tc>
                  <a:txBody>
                    <a:bodyPr wrap="none"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Baseline — image only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00" b="1">
                          <a:solidFill>
                            <a:srgbClr val="111827"/>
                          </a:solidFill>
                          <a:latin typeface="Calibri"/>
                        </a:rPr>
                        <a:t>4.47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5.78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59200">
                <a:tc>
                  <a:txBody>
                    <a:bodyPr wrap="none"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Multi-Input — image + sex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00" b="1">
                          <a:solidFill>
                            <a:srgbClr val="111827"/>
                          </a:solidFill>
                          <a:latin typeface="Calibri"/>
                        </a:rPr>
                        <a:t>3.82 ↓15%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4.98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2000" y="2340000"/>
            <a:ext cx="11329200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har char="•"/>
            </a:pPr>
            <a:r>
              <a:rPr sz="1600" b="1">
                <a:solidFill>
                  <a:srgbClr val="166B40"/>
                </a:solidFill>
                <a:latin typeface="Calibri"/>
              </a:rPr>
              <a:t>Adding sex reduces MAE by ~15%  (4.47 → 3.82 months)</a:t>
            </a:r>
          </a:p>
          <a:p>
            <a:pPr>
              <a:spcBef>
                <a:spcPts val="300"/>
              </a:spcBef>
              <a:buChar char="•"/>
            </a:pPr>
            <a:r>
              <a:rPr sz="1600" b="0">
                <a:solidFill>
                  <a:srgbClr val="111827"/>
                </a:solidFill>
                <a:latin typeface="Calibri"/>
              </a:rPr>
              <a:t>~80% of predictions fall within ±6 months of the true age</a:t>
            </a:r>
          </a:p>
          <a:p>
            <a:pPr>
              <a:spcBef>
                <a:spcPts val="300"/>
              </a:spcBef>
              <a:buChar char="•"/>
            </a:pPr>
            <a:r>
              <a:rPr sz="1600" b="0">
                <a:solidFill>
                  <a:srgbClr val="111827"/>
                </a:solidFill>
                <a:latin typeface="Calibri"/>
              </a:rPr>
              <a:t>~98% of predictions fall within ±12 months of the true age</a:t>
            </a:r>
          </a:p>
          <a:p>
            <a:pPr>
              <a:spcBef>
                <a:spcPts val="300"/>
              </a:spcBef>
              <a:buChar char="•"/>
            </a:pPr>
            <a:r>
              <a:rPr sz="1600" b="0">
                <a:solidFill>
                  <a:srgbClr val="111827"/>
                </a:solidFill>
                <a:latin typeface="Calibri"/>
              </a:rPr>
              <a:t>Error distribution is approximately Gaussian, centred near zero</a:t>
            </a:r>
          </a:p>
          <a:p>
            <a:pPr>
              <a:spcBef>
                <a:spcPts val="300"/>
              </a:spcBef>
              <a:buChar char="•"/>
            </a:pPr>
            <a:r>
              <a:rPr sz="1600" b="0">
                <a:solidFill>
                  <a:srgbClr val="475569"/>
                </a:solidFill>
                <a:latin typeface="Calibri"/>
              </a:rPr>
              <a:t>Higher errors at extremes: very young ages and older adolescents (sparse data)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5616000"/>
            <a:ext cx="11329200" cy="720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E3A5F"/>
                </a:solidFill>
                <a:latin typeface="Calibri"/>
              </a:rPr>
              <a:t>These are point predictions — they tell us HOW ACCURATE the model is, but not HOW CONFIDENT it is. That is what UQ addresses next.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000"/>
            <a:ext cx="12193200" cy="79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From Point Predictions to Trustworthy Intervals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152000"/>
            <a:ext cx="55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A point prediction answers: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2000" y="1440000"/>
            <a:ext cx="5580000" cy="39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"What is the estimated bone age?"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944000"/>
            <a:ext cx="55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But a clinician also needs to know: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2232000"/>
            <a:ext cx="5580000" cy="396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"How confident should I be in this estimate?"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2736000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UQ answers: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2951999"/>
            <a:ext cx="55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Which predictions are reliable vs uncertain?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What range covers the true age at a given probability?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3816000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Two methods applied: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4068000"/>
            <a:ext cx="55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D4ED8"/>
                </a:solidFill>
                <a:latin typeface="Calibri"/>
              </a:rPr>
              <a:t>Monte Carlo Dropout — model-based, stochastic inference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D4ED8"/>
                </a:solidFill>
                <a:latin typeface="Calibri"/>
              </a:rPr>
              <a:t>Split Conformal Prediction — data-driven, calibration residuals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0000" y="1152000"/>
          <a:ext cx="5508000" cy="77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3708000"/>
              </a:tblGrid>
              <a:tr h="259200"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Prediction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tells the clinician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259200"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132 months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Model says 11 years — but how reliable is this?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59200"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132 ± 16 months
(90% CI)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True age is 116–148 months
with 90% confidence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000"/>
            <a:ext cx="12193200" cy="79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UQ Method 1: Monte Carlo Dropout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080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GAL &amp; GHAHRAMANI, 2016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296000"/>
            <a:ext cx="64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Standard Dropout: active during training, OFF at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530000"/>
            <a:ext cx="64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MC Dropout: keep dropout ON at inference — T = 50 forward passes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800000"/>
            <a:ext cx="648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For each test image run the model T = 50 times with dropout active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Each pass randomly zeros different neurons → slightly different prediction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Collect 50 predictions:  [ŷ₁, ŷ₂, ..., ŷ₅₀]</a:t>
            </a:r>
          </a:p>
          <a:p>
            <a:pPr>
              <a:spcBef>
                <a:spcPts val="300"/>
              </a:spcBef>
              <a:buChar char="•"/>
            </a:pPr>
            <a:r>
              <a:rPr sz="1500" b="1">
                <a:solidFill>
                  <a:srgbClr val="166B40"/>
                </a:solidFill>
                <a:latin typeface="Calibri"/>
              </a:rPr>
              <a:t>Mean of 50 passes = final bone age estimate</a:t>
            </a:r>
          </a:p>
          <a:p>
            <a:pPr>
              <a:spcBef>
                <a:spcPts val="300"/>
              </a:spcBef>
              <a:buChar char="•"/>
            </a:pPr>
            <a:r>
              <a:rPr sz="1500" b="1">
                <a:solidFill>
                  <a:srgbClr val="1D4ED8"/>
                </a:solidFill>
                <a:latin typeface="Calibri"/>
              </a:rPr>
              <a:t>Standard deviation of 50 passes = uncertainty estimate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3851999"/>
            <a:ext cx="6120000" cy="1260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E3A5F"/>
                </a:solidFill>
                <a:latin typeface="Calibri"/>
              </a:rPr>
              <a:t>Interval at confidence level α:
   lower = mean − z(α) × std
   upper = mean + z(α) × std
   z = 1.645 for 90%,   z = 1.960 for 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0" y="3851999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6B40"/>
                </a:solidFill>
                <a:latin typeface="Calibri"/>
              </a:rPr>
              <a:t>Key property: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0" y="4104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No separate calibration step needed — uncertainty comes from the model's dropout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0" y="4572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Calibri"/>
              </a:rPr>
              <a:t>Limitation: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0" y="4824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No guarantee that interval width reflects actual prediction errors — the model can be overconfident.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000"/>
            <a:ext cx="12193200" cy="79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UQ Method 2: Split Conformal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080000"/>
            <a:ext cx="90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POST-HOC · DISTRIBUTION-FREE · FINITE-SAMPLE COVERAGE GUARANTEE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2000" y="1332000"/>
            <a:ext cx="11329200" cy="93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E3A5F"/>
                </a:solidFill>
                <a:latin typeface="Calibri"/>
              </a:rPr>
              <a:t>Step 1 — Calibrate on validation set  (n = 1,261 images)
Compute residuals:   residuals = | y_true − y_pred |  for each image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2772000"/>
            <a:ext cx="11329200" cy="100799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E3A5F"/>
                </a:solidFill>
                <a:latin typeface="Calibri"/>
              </a:rPr>
              <a:t>Step 2 — Compute the conformal quantile
k = ceil((n + 1) × α)        →   q̂ = k-th smallest residual
Example: α=0.90, baseline model  →  q̂ = 20.09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4212000"/>
            <a:ext cx="11329200" cy="100799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E3A5F"/>
                </a:solidFill>
                <a:latin typeface="Calibri"/>
              </a:rPr>
              <a:t>Step 3 — Build test-set intervals
lower = ŷ_pred − q̂          upper = ŷ_pred + q̂
Interval width = 2 × q̂   (same for every image at a given α)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5832000"/>
            <a:ext cx="11329200" cy="684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E3A5F"/>
                </a:solidFill>
                <a:latin typeface="Calibri"/>
              </a:rPr>
              <a:t>Coverage guarantee: at least α fraction of test samples will have y_true inside the interval — under the exchangeability assumption, regardless of model or data distribution.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000"/>
            <a:ext cx="12193200" cy="79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UQ Metrics: PICP and MPIW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152000"/>
            <a:ext cx="56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3A5F"/>
                </a:solidFill>
                <a:latin typeface="Calibri"/>
              </a:rPr>
              <a:t>PICP — Prediction Interval Coverage Probability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2000" y="1440000"/>
            <a:ext cx="5688000" cy="360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PICP = fraction of test samples where:   lower ≤ y_true ≤ upper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872000"/>
            <a:ext cx="568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Target: PICP ≥ α  (e.g., ≥ 0.90 for a 90% interval)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DC2626"/>
                </a:solidFill>
                <a:latin typeface="Calibri"/>
              </a:rPr>
              <a:t>PICP &lt; α  → intervals too narrow → overconfident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475569"/>
                </a:solidFill>
                <a:latin typeface="Calibri"/>
              </a:rPr>
              <a:t>PICP &gt;&gt; α → intervals too wide  → over-conservative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8000" y="1152000"/>
            <a:ext cx="5533201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3A5F"/>
                </a:solidFill>
                <a:latin typeface="Calibri"/>
              </a:rPr>
              <a:t>MPIW — Mean Prediction Interval Width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8000" y="1440000"/>
            <a:ext cx="5533201" cy="360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MPIW = mean( upper − lower )   across all test images  (months)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8000" y="1872000"/>
            <a:ext cx="553320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har char="•"/>
            </a:pPr>
            <a:r>
              <a:rPr sz="1500" b="1">
                <a:solidFill>
                  <a:srgbClr val="166B40"/>
                </a:solidFill>
                <a:latin typeface="Calibri"/>
              </a:rPr>
              <a:t>Want this as SMALL as possible while still achieving target PICP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A narrow interval that covers the true value is more informative clinically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3096000"/>
            <a:ext cx="11329200" cy="25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3204000"/>
            <a:ext cx="1132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The coverage–width tradeoff: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440000" y="3491999"/>
          <a:ext cx="9313200" cy="10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1800000"/>
                <a:gridCol w="5353200"/>
              </a:tblGrid>
              <a:tr h="259200">
                <a:tc>
                  <a:txBody>
                    <a:bodyPr wrap="non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MPIW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PICP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259200">
                <a:tc>
                  <a:txBody>
                    <a:bodyPr wrap="none"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Very wide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Safe but uninformative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59200">
                <a:tc>
                  <a:txBody>
                    <a:bodyPr wrap="none"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Very narrow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Precise but unreliable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 wrap="none"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Narrow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≥ α  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Ideal — calibrated and tight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000"/>
            <a:ext cx="12193200" cy="79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MC Dropout Results — Overconfident Intervals</a:t>
            </a:r>
          </a:p>
        </p:txBody>
      </p:sp>
      <p:pic>
        <p:nvPicPr>
          <p:cNvPr id="3" name="Picture 2" descr="mc_dropout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11473200" cy="18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2000" y="2988000"/>
            <a:ext cx="11329200" cy="31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har char="•"/>
            </a:pPr>
            <a:r>
              <a:rPr sz="1500" b="1">
                <a:solidFill>
                  <a:srgbClr val="DC2626"/>
                </a:solidFill>
                <a:latin typeface="Calibri"/>
              </a:rPr>
              <a:t>Baseline severely overconfident: nominal 90% → actual coverage only 71.0%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DC2626"/>
                </a:solidFill>
                <a:latin typeface="Calibri"/>
              </a:rPr>
              <a:t>At nominal 95%, baseline coverage is only 75.4% — far below target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475569"/>
                </a:solidFill>
                <a:latin typeface="Calibri"/>
              </a:rPr>
              <a:t>Multi-input improves: 86.1% at α=0.90; 90.4% at α=0.95 (barely meets one target)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Widths (29–43 months) are narrower than conformal — but coverage targets are missed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Multi has wider MC Dropout intervals than Baseline despite better accuracy:</a:t>
            </a:r>
          </a:p>
          <a:p>
            <a:pPr lvl="1">
              <a:spcBef>
                <a:spcPts val="100"/>
              </a:spcBef>
              <a:buChar char="–"/>
            </a:pPr>
            <a:r>
              <a:rPr sz="1400" b="0">
                <a:solidFill>
                  <a:srgbClr val="475569"/>
                </a:solidFill>
                <a:latin typeface="Calibri"/>
              </a:rPr>
              <a:t>Higher predictive std (10.9 vs 8.9 months) → wider Gaussian intervals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6120000"/>
            <a:ext cx="11329200" cy="540000"/>
          </a:xfrm>
          <a:prstGeom prst="roundRect">
            <a:avLst/>
          </a:prstGeom>
          <a:solidFill>
            <a:srgbClr val="FFF1F0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DC2626"/>
                </a:solidFill>
                <a:latin typeface="Calibri"/>
              </a:rPr>
              <a:t>MC Dropout uncertainty reflects the model's internal stochasticity, not its actual errors — it cannot self-correct for systematic mis-calibration.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000"/>
            <a:ext cx="12193200" cy="79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Conformal Prediction Results — Coverage Targets Met</a:t>
            </a:r>
          </a:p>
        </p:txBody>
      </p:sp>
      <p:pic>
        <p:nvPicPr>
          <p:cNvPr id="3" name="Picture 2" descr="conformal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11473200" cy="18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2000" y="2988000"/>
            <a:ext cx="113292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har char="•"/>
            </a:pPr>
            <a:r>
              <a:rPr sz="1500" b="1">
                <a:solidFill>
                  <a:srgbClr val="166B40"/>
                </a:solidFill>
                <a:latin typeface="Calibri"/>
              </a:rPr>
              <a:t>Both variants meet their nominal coverage targets at α=0.90 and α=0.95</a:t>
            </a:r>
          </a:p>
          <a:p>
            <a:pPr lvl="1">
              <a:spcBef>
                <a:spcPts val="100"/>
              </a:spcBef>
              <a:buChar char="–"/>
            </a:pPr>
            <a:r>
              <a:rPr sz="1400" b="0">
                <a:solidFill>
                  <a:srgbClr val="475569"/>
                </a:solidFill>
                <a:latin typeface="Calibri"/>
              </a:rPr>
              <a:t>This is the conformal guarantee working in practice</a:t>
            </a:r>
          </a:p>
          <a:p>
            <a:pPr>
              <a:spcBef>
                <a:spcPts val="300"/>
              </a:spcBef>
              <a:buChar char="•"/>
            </a:pPr>
            <a:r>
              <a:rPr sz="1500" b="1">
                <a:solidFill>
                  <a:srgbClr val="1E3A5F"/>
                </a:solidFill>
                <a:latin typeface="Calibri"/>
              </a:rPr>
              <a:t>Multi-input is strictly better on both dimensions:</a:t>
            </a:r>
          </a:p>
          <a:p>
            <a:pPr lvl="1">
              <a:spcBef>
                <a:spcPts val="100"/>
              </a:spcBef>
              <a:buChar char="–"/>
            </a:pPr>
            <a:r>
              <a:rPr sz="1400" b="0">
                <a:solidFill>
                  <a:srgbClr val="111827"/>
                </a:solidFill>
                <a:latin typeface="Calibri"/>
              </a:rPr>
              <a:t>Higher PICP  AND  narrower intervals than baseline at every alpha level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Narrower multi intervals explained by calibration: better point predictions →</a:t>
            </a:r>
          </a:p>
          <a:p>
            <a:pPr lvl="1">
              <a:spcBef>
                <a:spcPts val="100"/>
              </a:spcBef>
              <a:buChar char="–"/>
            </a:pPr>
            <a:r>
              <a:rPr sz="1400" b="0">
                <a:solidFill>
                  <a:srgbClr val="475569"/>
                </a:solidFill>
                <a:latin typeface="Calibri"/>
              </a:rPr>
              <a:t>smaller validation residuals → smaller q̂  (20.09 → 16.54 months at α=0.90) → tighter intervals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Width increases with α  (40.18 → 49.57 for baseline) — expected behaviour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6120000"/>
            <a:ext cx="11329200" cy="576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E3A5F"/>
                </a:solidFill>
                <a:latin typeface="Calibri"/>
              </a:rPr>
              <a:t>q̂ values  (conformal threshold from validation residuals):
Baseline α=0.90: 20.09 mo  ·  α=0.95: 24.78 mo       Multi α=0.90: 16.54 mo  ·  α=0.95: 21.86 mo     (MPIW = 2 × q̂, symmetric intervals)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000"/>
            <a:ext cx="12193200" cy="79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Combined Comparison: Method × Variant × Coverage Level</a:t>
            </a:r>
          </a:p>
        </p:txBody>
      </p:sp>
      <p:pic>
        <p:nvPicPr>
          <p:cNvPr id="3" name="Picture 2" descr="combined_uq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007999"/>
            <a:ext cx="5700600" cy="2700000"/>
          </a:xfrm>
          <a:prstGeom prst="rect">
            <a:avLst/>
          </a:prstGeom>
        </p:spPr>
      </p:pic>
      <p:pic>
        <p:nvPicPr>
          <p:cNvPr id="4" name="Picture 3" descr="mpiw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600" y="1007999"/>
            <a:ext cx="5700600" cy="270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32000" y="3816000"/>
            <a:ext cx="11329200" cy="25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3924000"/>
            <a:ext cx="113292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har char="•"/>
            </a:pPr>
            <a:r>
              <a:rPr sz="1500" b="1">
                <a:solidFill>
                  <a:srgbClr val="1E3A5F"/>
                </a:solidFill>
                <a:latin typeface="Calibri"/>
              </a:rPr>
              <a:t>MC Dropout (left chart): Multi has WIDER intervals than Baseline</a:t>
            </a:r>
          </a:p>
          <a:p>
            <a:pPr lvl="1">
              <a:spcBef>
                <a:spcPts val="100"/>
              </a:spcBef>
              <a:buChar char="–"/>
            </a:pPr>
            <a:r>
              <a:rPr sz="1400" b="0">
                <a:solidFill>
                  <a:srgbClr val="475569"/>
                </a:solidFill>
                <a:latin typeface="Calibri"/>
              </a:rPr>
              <a:t>Counter-intuitive — but multi has higher predictive std (10.9 vs 8.9 mo) → wider Gaussian intervals</a:t>
            </a:r>
          </a:p>
          <a:p>
            <a:pPr>
              <a:spcBef>
                <a:spcPts val="300"/>
              </a:spcBef>
              <a:buChar char="•"/>
            </a:pPr>
            <a:r>
              <a:rPr sz="1500" b="1">
                <a:solidFill>
                  <a:srgbClr val="1E3A5F"/>
                </a:solidFill>
                <a:latin typeface="Calibri"/>
              </a:rPr>
              <a:t>Conformal (right chart): Multi has NARROWER intervals than Baseline</a:t>
            </a:r>
          </a:p>
          <a:p>
            <a:pPr lvl="1">
              <a:spcBef>
                <a:spcPts val="100"/>
              </a:spcBef>
              <a:buChar char="–"/>
            </a:pPr>
            <a:r>
              <a:rPr sz="1400" b="0">
                <a:solidFill>
                  <a:srgbClr val="475569"/>
                </a:solidFill>
                <a:latin typeface="Calibri"/>
              </a:rPr>
              <a:t>Better predictions → smaller residuals → smaller q̂ → tighter intervals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" y="5580000"/>
          <a:ext cx="12024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000"/>
                <a:gridCol w="1800000"/>
                <a:gridCol w="1908000"/>
                <a:gridCol w="1908000"/>
                <a:gridCol w="4320000"/>
              </a:tblGrid>
              <a:tr h="259200"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PICP @ 0.90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MPIW @ 0.90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259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MC Dropout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0.710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29.23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❌ Under-covers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59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MC Dropout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Multi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0.861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35.89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❌ Under-covers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Conformal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0.894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40.18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✓ Meets target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59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Conformal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Multi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0.903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33.08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✓ Best overall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000"/>
            <a:ext cx="12193200" cy="79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1152000"/>
            <a:ext cx="288000" cy="234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999" y="1152000"/>
            <a:ext cx="1093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Adding sex metadata consistently improves the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999" y="1396800"/>
            <a:ext cx="1093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MAE drops ~15%  and  conformal intervals narrow by ~7 months at α=0.90.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2023200"/>
            <a:ext cx="288000" cy="234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999" y="2023200"/>
            <a:ext cx="1093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Conformal prediction reliably achieves its stated coverage.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999" y="2268000"/>
            <a:ext cx="1093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Both variants meet targets at α=0.90 and α=0.95 — provable under exchangeability.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894400"/>
            <a:ext cx="288000" cy="234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999" y="2894400"/>
            <a:ext cx="1093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MC Dropout is overconfident, especially for the baseline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999" y="3139200"/>
            <a:ext cx="1093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At nominal 95%, actual baseline coverage is only 75.4%. Intervals are narrower but miss the target.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3765600"/>
            <a:ext cx="288000" cy="234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999" y="3765600"/>
            <a:ext cx="1093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Best combination: Conformal + Multi-input.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999" y="4010400"/>
            <a:ext cx="1093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90.3% coverage with 33.1-month intervals at α=0.90 — reliably calibrated and tight.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4636800"/>
            <a:ext cx="288000" cy="234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999" y="4636800"/>
            <a:ext cx="1093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MC Dropout is still useful as a relative uncertainty signal.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999" y="4881600"/>
            <a:ext cx="1093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Even if absolute coverage is off, high std → flag uncertain images for clinical review.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5508000"/>
            <a:ext cx="288000" cy="234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999" y="5508000"/>
            <a:ext cx="1093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Conformal intervals are fixed-width per alpha.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999" y="5752800"/>
            <a:ext cx="1093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Every image gets the same interval — not adaptive to image difficulty. Main limitation.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000"/>
            <a:ext cx="12193200" cy="79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152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CURRENT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404000"/>
            <a:ext cx="55566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No hand segmentation — background noise and cropping artifacts can degrade predictions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Only sex used as metadata — height, weight, ethnicity, pubertal stage could help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Conformal intervals are symmetric and non-adaptive — same width for every image at a given α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Higher errors at extreme ages (infants, older adolescents) are not specifically addressed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4600" y="1152000"/>
            <a:ext cx="2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FUTURE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4600" y="1404000"/>
            <a:ext cx="5556600" cy="3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Segmentation pre-processing: U-Net to isolate hand region before EfficientNet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Richer metadata: height, weight, clinical variables as additional model inputs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Adaptive conformal prediction: Mondrian / locally-weighted methods for image-specific interval widths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Hybrid architectures: CNN + Transformer (ViT) for richer feature extraction</a:t>
            </a:r>
          </a:p>
          <a:p>
            <a:pPr>
              <a:spcBef>
                <a:spcPts val="300"/>
              </a:spcBef>
              <a:buChar char="•"/>
            </a:pPr>
            <a:r>
              <a:rPr sz="1500" b="0">
                <a:solidFill>
                  <a:srgbClr val="111827"/>
                </a:solidFill>
                <a:latin typeface="Calibri"/>
              </a:rPr>
              <a:t>Deployment: FastAPI REST endpoint for real-world clinical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78600" y="1152000"/>
            <a:ext cx="18000" cy="486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6192000"/>
            <a:ext cx="11329200" cy="25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6263999"/>
            <a:ext cx="1132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Dataset: RSNA Bone Age (Kaggle)  ·  Models: EfficientNet-B3 (TensorFlow/Keras)  ·  UQ: MC Dropout (Gal &amp; Ghahramani, 2016)  ·  Split Conformal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